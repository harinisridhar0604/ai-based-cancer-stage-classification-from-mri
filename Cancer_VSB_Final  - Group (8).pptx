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3" r:id="rId15"/>
    <p:sldId id="274" r:id="rId16"/>
    <p:sldId id="269" r:id="rId17"/>
    <p:sldId id="270" r:id="rId18"/>
    <p:sldId id="271"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63F2221-A6B7-4712-8C0C-5E0B2C647E0E}">
          <p14:sldIdLst>
            <p14:sldId id="256"/>
            <p14:sldId id="257"/>
            <p14:sldId id="258"/>
            <p14:sldId id="259"/>
            <p14:sldId id="260"/>
            <p14:sldId id="261"/>
            <p14:sldId id="262"/>
            <p14:sldId id="263"/>
            <p14:sldId id="264"/>
            <p14:sldId id="265"/>
            <p14:sldId id="266"/>
            <p14:sldId id="267"/>
            <p14:sldId id="268"/>
            <p14:sldId id="273"/>
            <p14:sldId id="274"/>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66DFE2-8196-481D-AD85-876329DAD429}" v="1" dt="2026-04-25T01:44:48.9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86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 y="73152"/>
            <a:ext cx="5943600" cy="1097280"/>
          </a:xfrm>
          <a:prstGeom prst="rect">
            <a:avLst/>
          </a:prstGeom>
        </p:spPr>
      </p:pic>
      <p:pic>
        <p:nvPicPr>
          <p:cNvPr id="3" name="Image 1" descr="preencoded.png"/>
          <p:cNvPicPr>
            <a:picLocks noChangeAspect="1"/>
          </p:cNvPicPr>
          <p:nvPr/>
        </p:nvPicPr>
        <p:blipFill>
          <a:blip r:embed="rId4"/>
          <a:stretch>
            <a:fillRect/>
          </a:stretch>
        </p:blipFill>
        <p:spPr>
          <a:xfrm>
            <a:off x="6858000" y="73152"/>
            <a:ext cx="2194560" cy="960120"/>
          </a:xfrm>
          <a:prstGeom prst="rect">
            <a:avLst/>
          </a:prstGeom>
        </p:spPr>
      </p:pic>
      <p:sp>
        <p:nvSpPr>
          <p:cNvPr id="5" name="Text 1"/>
          <p:cNvSpPr/>
          <p:nvPr/>
        </p:nvSpPr>
        <p:spPr>
          <a:xfrm>
            <a:off x="274320" y="1325880"/>
            <a:ext cx="8595360" cy="347472"/>
          </a:xfrm>
          <a:prstGeom prst="rect">
            <a:avLst/>
          </a:prstGeom>
          <a:noFill/>
          <a:ln/>
        </p:spPr>
        <p:txBody>
          <a:bodyPr wrap="square" rtlCol="0" anchor="ctr"/>
          <a:lstStyle/>
          <a:p>
            <a:pPr marL="0" indent="0" algn="ctr">
              <a:buNone/>
            </a:pPr>
            <a:r>
              <a:rPr lang="en-US" sz="1200" b="1" dirty="0">
                <a:solidFill>
                  <a:srgbClr val="000000"/>
                </a:solidFill>
                <a:latin typeface="Times New Roman" pitchFamily="34" charset="0"/>
                <a:ea typeface="Times New Roman" pitchFamily="34" charset="-122"/>
                <a:cs typeface="Times New Roman" pitchFamily="34" charset="-120"/>
              </a:rPr>
              <a:t>DEPARTMENT OF BIOMEDICAL ENGINEERING</a:t>
            </a:r>
            <a:endParaRPr lang="en-US" sz="1200" dirty="0"/>
          </a:p>
        </p:txBody>
      </p:sp>
      <p:sp>
        <p:nvSpPr>
          <p:cNvPr id="6" name="Text 2"/>
          <p:cNvSpPr/>
          <p:nvPr/>
        </p:nvSpPr>
        <p:spPr>
          <a:xfrm>
            <a:off x="274320" y="1664208"/>
            <a:ext cx="8595360" cy="310896"/>
          </a:xfrm>
          <a:prstGeom prst="rect">
            <a:avLst/>
          </a:prstGeom>
          <a:noFill/>
          <a:ln/>
        </p:spPr>
        <p:txBody>
          <a:bodyPr wrap="square" rtlCol="0" anchor="ctr"/>
          <a:lstStyle/>
          <a:p>
            <a:pPr marL="0" indent="0" algn="ctr">
              <a:buNone/>
            </a:pPr>
            <a:r>
              <a:rPr lang="en-US" sz="1200" b="1" dirty="0">
                <a:solidFill>
                  <a:srgbClr val="000000"/>
                </a:solidFill>
                <a:latin typeface="Times New Roman" pitchFamily="34" charset="0"/>
                <a:ea typeface="Times New Roman" pitchFamily="34" charset="-122"/>
                <a:cs typeface="Times New Roman" pitchFamily="34" charset="-120"/>
              </a:rPr>
              <a:t>Final Review - Mini Project</a:t>
            </a:r>
            <a:endParaRPr lang="en-US" sz="1200" dirty="0"/>
          </a:p>
        </p:txBody>
      </p:sp>
      <p:sp>
        <p:nvSpPr>
          <p:cNvPr id="7" name="Text 3"/>
          <p:cNvSpPr/>
          <p:nvPr/>
        </p:nvSpPr>
        <p:spPr>
          <a:xfrm>
            <a:off x="365760" y="2029968"/>
            <a:ext cx="8412480" cy="658368"/>
          </a:xfrm>
          <a:prstGeom prst="rect">
            <a:avLst/>
          </a:prstGeom>
          <a:noFill/>
          <a:ln/>
        </p:spPr>
        <p:txBody>
          <a:bodyPr wrap="square" rtlCol="0" anchor="ctr"/>
          <a:lstStyle/>
          <a:p>
            <a:pPr marL="0" indent="0" algn="ctr">
              <a:buNone/>
            </a:pPr>
            <a:r>
              <a:rPr lang="en-US" sz="1400" b="1" dirty="0">
                <a:solidFill>
                  <a:srgbClr val="FF0000"/>
                </a:solidFill>
                <a:latin typeface="Times New Roman" pitchFamily="34" charset="0"/>
                <a:ea typeface="Times New Roman" pitchFamily="34" charset="-122"/>
                <a:cs typeface="Times New Roman" pitchFamily="34" charset="-120"/>
              </a:rPr>
              <a:t>AI BASED CANCER STAGE CLASSIFICATION FROM MRI</a:t>
            </a:r>
            <a:endParaRPr lang="en-US" sz="1400" dirty="0">
              <a:solidFill>
                <a:srgbClr val="FF0000"/>
              </a:solidFill>
            </a:endParaRPr>
          </a:p>
        </p:txBody>
      </p:sp>
      <p:sp>
        <p:nvSpPr>
          <p:cNvPr id="8" name="Text 4"/>
          <p:cNvSpPr/>
          <p:nvPr/>
        </p:nvSpPr>
        <p:spPr>
          <a:xfrm>
            <a:off x="457200" y="2852928"/>
            <a:ext cx="8229600" cy="1975104"/>
          </a:xfrm>
          <a:prstGeom prst="rect">
            <a:avLst/>
          </a:prstGeom>
          <a:noFill/>
          <a:ln/>
        </p:spPr>
        <p:txBody>
          <a:bodyPr wrap="square" rtlCol="0" anchor="ctr"/>
          <a:lstStyle/>
          <a:p>
            <a:pPr marL="0" indent="0">
              <a:buNone/>
            </a:pPr>
            <a:endParaRPr lang="en-US" sz="1400" dirty="0"/>
          </a:p>
        </p:txBody>
      </p:sp>
      <p:sp>
        <p:nvSpPr>
          <p:cNvPr id="9" name="Text 5"/>
          <p:cNvSpPr/>
          <p:nvPr/>
        </p:nvSpPr>
        <p:spPr>
          <a:xfrm>
            <a:off x="4937760" y="2852928"/>
            <a:ext cx="3749040" cy="292608"/>
          </a:xfrm>
          <a:prstGeom prst="rect">
            <a:avLst/>
          </a:prstGeom>
          <a:noFill/>
          <a:ln/>
        </p:spPr>
        <p:txBody>
          <a:bodyPr wrap="square" rtlCol="0" anchor="ctr"/>
          <a:lstStyle/>
          <a:p>
            <a:pPr marL="0" indent="0">
              <a:buNone/>
            </a:pPr>
            <a:endParaRPr lang="en-US" sz="1400" dirty="0"/>
          </a:p>
        </p:txBody>
      </p:sp>
      <p:sp>
        <p:nvSpPr>
          <p:cNvPr id="10" name="Text 6"/>
          <p:cNvSpPr/>
          <p:nvPr/>
        </p:nvSpPr>
        <p:spPr>
          <a:xfrm>
            <a:off x="411479" y="2832118"/>
            <a:ext cx="8503920" cy="1975104"/>
          </a:xfrm>
          <a:prstGeom prst="rect">
            <a:avLst/>
          </a:prstGeom>
          <a:noFill/>
          <a:ln/>
        </p:spPr>
        <p:txBody>
          <a:bodyPr wrap="square" rtlCol="0" anchor="ctr"/>
          <a:lstStyle/>
          <a:p>
            <a:pPr marL="0" indent="0">
              <a:buNone/>
            </a:pPr>
            <a:endParaRPr lang="en-US" sz="1300" dirty="0"/>
          </a:p>
        </p:txBody>
      </p:sp>
      <p:sp>
        <p:nvSpPr>
          <p:cNvPr id="11" name="Text 7"/>
          <p:cNvSpPr/>
          <p:nvPr/>
        </p:nvSpPr>
        <p:spPr>
          <a:xfrm>
            <a:off x="548640" y="2743200"/>
            <a:ext cx="8229599" cy="1557633"/>
          </a:xfrm>
          <a:prstGeom prst="rect">
            <a:avLst/>
          </a:prstGeom>
          <a:noFill/>
          <a:ln/>
        </p:spPr>
        <p:txBody>
          <a:bodyPr wrap="square" rtlCol="0" anchor="ctr"/>
          <a:lstStyle/>
          <a:p>
            <a:pPr lvl="0"/>
            <a:r>
              <a:rPr lang="en-US" sz="1400" b="1"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GUIDED BY,                                                                                  PRESENTED BY,                                                   </a:t>
            </a:r>
          </a:p>
          <a:p>
            <a:pPr lvl="0"/>
            <a:r>
              <a:rPr lang="en-US" sz="1600" b="1"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Ms.K.B</a:t>
            </a:r>
            <a:r>
              <a:rPr lang="en-US" sz="1200" dirty="0">
                <a:latin typeface="Times New Roman" panose="02020603050405020304" pitchFamily="18" charset="0"/>
                <a:cs typeface="Times New Roman" panose="02020603050405020304" pitchFamily="18" charset="0"/>
              </a:rPr>
              <a:t> ASWATHI </a:t>
            </a:r>
            <a:r>
              <a:rPr lang="en-US" sz="1200" dirty="0" err="1">
                <a:latin typeface="Times New Roman" panose="02020603050405020304" pitchFamily="18" charset="0"/>
                <a:cs typeface="Times New Roman" panose="02020603050405020304" pitchFamily="18" charset="0"/>
              </a:rPr>
              <a:t>M.Tech</a:t>
            </a:r>
            <a:r>
              <a:rPr lang="en-US" sz="1200" dirty="0">
                <a:latin typeface="Times New Roman" panose="02020603050405020304" pitchFamily="18" charset="0"/>
                <a:cs typeface="Times New Roman" panose="02020603050405020304" pitchFamily="18" charset="0"/>
              </a:rPr>
              <a:t>.,                                                           Harini S     (922523121017),</a:t>
            </a:r>
          </a:p>
          <a:p>
            <a:pPr lvl="0"/>
            <a:r>
              <a:rPr lang="en-US" sz="1200" dirty="0">
                <a:latin typeface="Times New Roman" panose="02020603050405020304" pitchFamily="18" charset="0"/>
                <a:cs typeface="Times New Roman" panose="02020603050405020304" pitchFamily="18" charset="0"/>
              </a:rPr>
              <a:t>                       Associate Professor                                                                          Harini P     (922523121016),</a:t>
            </a:r>
          </a:p>
          <a:p>
            <a:pPr lvl="0"/>
            <a:r>
              <a:rPr lang="en-US" sz="1200" dirty="0">
                <a:latin typeface="Times New Roman" panose="02020603050405020304" pitchFamily="18" charset="0"/>
                <a:cs typeface="Times New Roman" panose="02020603050405020304" pitchFamily="18" charset="0"/>
              </a:rPr>
              <a:t>                       Department of Biomedical Engineering                                          Pavithra V  (922523121037)</a:t>
            </a:r>
          </a:p>
          <a:p>
            <a:pPr lvl="0"/>
            <a:r>
              <a:rPr lang="en-US" sz="1200" dirty="0">
                <a:latin typeface="Times New Roman" panose="02020603050405020304" pitchFamily="18" charset="0"/>
                <a:cs typeface="Times New Roman" panose="02020603050405020304" pitchFamily="18" charset="0"/>
              </a:rPr>
              <a:t>                       V.S.B Engineering college                                                              </a:t>
            </a:r>
          </a:p>
          <a:p>
            <a:pPr marL="0" indent="0">
              <a:buNone/>
            </a:pPr>
            <a:r>
              <a:rPr lang="en-US" sz="13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274320" y="-145043"/>
            <a:ext cx="8595360" cy="2345909"/>
          </a:xfrm>
          <a:prstGeom prst="rect">
            <a:avLst/>
          </a:prstGeom>
          <a:noFill/>
          <a:ln/>
        </p:spPr>
        <p:txBody>
          <a:bodyPr wrap="square"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ABSTRACT</a:t>
            </a:r>
            <a:endParaRPr lang="en-US" sz="1600" dirty="0"/>
          </a:p>
        </p:txBody>
      </p:sp>
      <p:sp>
        <p:nvSpPr>
          <p:cNvPr id="6" name="Text 2"/>
          <p:cNvSpPr/>
          <p:nvPr/>
        </p:nvSpPr>
        <p:spPr>
          <a:xfrm>
            <a:off x="845031" y="296392"/>
            <a:ext cx="7655735" cy="4975597"/>
          </a:xfrm>
          <a:prstGeom prst="rect">
            <a:avLst/>
          </a:prstGeom>
          <a:noFill/>
          <a:ln/>
        </p:spPr>
        <p:txBody>
          <a:bodyPr wrap="square" rtlCol="0" anchor="ctr"/>
          <a:lstStyle/>
          <a:p>
            <a:pPr marL="0" indent="0" algn="just">
              <a:spcAft>
                <a:spcPts val="600"/>
              </a:spcAft>
              <a:buNone/>
            </a:pPr>
            <a:r>
              <a:rPr lang="en-US" sz="1200" dirty="0">
                <a:solidFill>
                  <a:srgbClr val="000000"/>
                </a:solidFill>
                <a:latin typeface="Times New Roman" pitchFamily="34" charset="0"/>
                <a:ea typeface="Times New Roman" pitchFamily="34" charset="-122"/>
                <a:cs typeface="Times New Roman" pitchFamily="34" charset="-120"/>
              </a:rPr>
              <a:t>                          Cancer is one of the leading causes of mortality worldwide, with accurate staging being critical for guiding treatment and predicting patient outcomes. Magnetic Resonance Imaging (MRI) is the preferred modality for cancer staging due to its superior soft tissue contrast and non-invasive nature. However, manual MRI interpretation is time-intensive, subjective, and prone to inter-observer variability, particularly in resource-limited settings where specialist radiologists are scarce. This project proposes an AI-based cancer stage classification system using deep learning, employing a fine-tuned ResNet50 Convolutional Neural Network (CNN) trained with transfer learning on annotated MRI datasets to classify cancer into four stages (Stage I–IV). The system integrates Gradient-weighted Class Activation Mapping (Grad-CAM) for visual explainability, highlighting tumor-relevant regions to support clinical trust. The proposed model achieves an overall classification accuracy of 92.4% with AUC-ROC scores above 0.95 across all stages. A web-based Streamlit interface allows clinicians to upload MRI images and receive staging predictions with visual explanations within seconds, serving as a reliable decision-support tool for oncologists</a:t>
            </a:r>
            <a:r>
              <a:rPr lang="en-US" sz="1400" dirty="0">
                <a:solidFill>
                  <a:srgbClr val="000000"/>
                </a:solidFill>
                <a:latin typeface="Times New Roman" pitchFamily="34" charset="0"/>
                <a:ea typeface="Times New Roman" pitchFamily="34" charset="-122"/>
                <a:cs typeface="Times New Roman" pitchFamily="34" charset="-120"/>
              </a:rPr>
              <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274320" y="327923"/>
            <a:ext cx="8595360" cy="1128811"/>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INTRODUCTION</a:t>
            </a:r>
            <a:endParaRPr lang="en-US" sz="1400" dirty="0"/>
          </a:p>
        </p:txBody>
      </p:sp>
      <p:sp>
        <p:nvSpPr>
          <p:cNvPr id="6" name="Text 2"/>
          <p:cNvSpPr/>
          <p:nvPr/>
        </p:nvSpPr>
        <p:spPr>
          <a:xfrm>
            <a:off x="718908" y="643233"/>
            <a:ext cx="7967891" cy="4248807"/>
          </a:xfrm>
          <a:prstGeom prst="rect">
            <a:avLst/>
          </a:prstGeom>
          <a:noFill/>
          <a:ln/>
        </p:spPr>
        <p:txBody>
          <a:bodyPr wrap="square" rtlCol="0" anchor="ctr"/>
          <a:lstStyle/>
          <a:p>
            <a:pPr marL="0" indent="0" algn="just">
              <a:spcAft>
                <a:spcPts val="800"/>
              </a:spcAft>
              <a:buNone/>
            </a:pPr>
            <a:r>
              <a:rPr lang="en-US" sz="1400" dirty="0">
                <a:solidFill>
                  <a:srgbClr val="000000"/>
                </a:solidFill>
                <a:latin typeface="Times New Roman" pitchFamily="34" charset="0"/>
                <a:ea typeface="Times New Roman" pitchFamily="34" charset="-122"/>
                <a:cs typeface="Times New Roman" pitchFamily="34" charset="-120"/>
              </a:rPr>
              <a:t>                         </a:t>
            </a:r>
            <a:r>
              <a:rPr lang="en-US" sz="1200" dirty="0">
                <a:solidFill>
                  <a:srgbClr val="000000"/>
                </a:solidFill>
                <a:latin typeface="Times New Roman" pitchFamily="34" charset="0"/>
                <a:ea typeface="Times New Roman" pitchFamily="34" charset="-122"/>
                <a:cs typeface="Times New Roman" pitchFamily="34" charset="-120"/>
              </a:rPr>
              <a:t>Cancer remains one of the most significant public health challenges globally, accounting for approximately 10 million deaths per year. Accurate staging of cancer — determining how far the disease has spread — is the most critical step in guiding treatment. Magnetic Resonance Imaging (MRI) provides excellent soft tissue contrast and detailed morphological information, making it the imaging modality of choice for cancer staging across brain, breast, prostate, cervical, and rectal cancers.</a:t>
            </a:r>
            <a:endParaRPr lang="en-US" sz="1200" dirty="0"/>
          </a:p>
          <a:p>
            <a:pPr marL="0" indent="0" algn="just">
              <a:spcAft>
                <a:spcPts val="800"/>
              </a:spcAft>
              <a:buNone/>
            </a:pPr>
            <a:r>
              <a:rPr lang="en-US" sz="1200" dirty="0">
                <a:solidFill>
                  <a:srgbClr val="000000"/>
                </a:solidFill>
                <a:latin typeface="Times New Roman" pitchFamily="34" charset="0"/>
                <a:ea typeface="Times New Roman" pitchFamily="34" charset="-122"/>
                <a:cs typeface="Times New Roman" pitchFamily="34" charset="-120"/>
              </a:rPr>
              <a:t>                        However, manual interpretation of MRI scans is time-consuming, highly dependent on radiologist expertise, and subject to inter-observer variability. In India, the shortage of trained radiologists in rural and semi-urban areas causes significant diagnostic delays. Artificial intelligence, specifically deep learning using Convolutional Neural Networks (CNNs), has demonstrated expert-level performance in medical image analysis. This project develops an AI-based multi-class cancer staging system from MRI using ResNet50 with transfer learning, providing fast, consistent, and explainable staging predictions to support clinical decision-making</a:t>
            </a:r>
            <a:r>
              <a:rPr lang="en-US" sz="1400" dirty="0">
                <a:solidFill>
                  <a:srgbClr val="000000"/>
                </a:solidFill>
                <a:latin typeface="Times New Roman" pitchFamily="34" charset="0"/>
                <a:ea typeface="Times New Roman" pitchFamily="34" charset="-122"/>
                <a:cs typeface="Times New Roman" pitchFamily="34" charset="-120"/>
              </a:rPr>
              <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274320" y="-605396"/>
            <a:ext cx="8595360" cy="2818244"/>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OBJECTIVE</a:t>
            </a:r>
            <a:endParaRPr lang="en-US" sz="1400" dirty="0"/>
          </a:p>
        </p:txBody>
      </p:sp>
      <p:sp>
        <p:nvSpPr>
          <p:cNvPr id="6" name="Text 2"/>
          <p:cNvSpPr/>
          <p:nvPr/>
        </p:nvSpPr>
        <p:spPr>
          <a:xfrm>
            <a:off x="397292" y="586477"/>
            <a:ext cx="8229600" cy="1580651"/>
          </a:xfrm>
          <a:prstGeom prst="rect">
            <a:avLst/>
          </a:prstGeom>
          <a:noFill/>
          <a:ln/>
        </p:spPr>
        <p:txBody>
          <a:bodyPr wrap="square" rtlCol="0" anchor="ctr"/>
          <a:lstStyle/>
          <a:p>
            <a:pPr algn="l"/>
            <a:r>
              <a:rPr lang="en-US" sz="1350" dirty="0">
                <a:solidFill>
                  <a:srgbClr val="000000"/>
                </a:solidFill>
                <a:latin typeface="Times New Roman" pitchFamily="34" charset="0"/>
                <a:ea typeface="Times New Roman" pitchFamily="34" charset="-122"/>
                <a:cs typeface="Times New Roman" pitchFamily="34" charset="-120"/>
              </a:rPr>
              <a:t>           </a:t>
            </a:r>
          </a:p>
          <a:p>
            <a:pPr algn="l"/>
            <a:r>
              <a:rPr lang="en-US" sz="1350" dirty="0">
                <a:solidFill>
                  <a:srgbClr val="000000"/>
                </a:solidFill>
                <a:latin typeface="Times New Roman" pitchFamily="34" charset="0"/>
                <a:ea typeface="Times New Roman" pitchFamily="34" charset="-122"/>
                <a:cs typeface="Times New Roman" pitchFamily="34" charset="-120"/>
              </a:rPr>
              <a:t>         1. </a:t>
            </a:r>
            <a:r>
              <a:rPr lang="en-US" sz="1200" dirty="0">
                <a:solidFill>
                  <a:srgbClr val="000000"/>
                </a:solidFill>
                <a:latin typeface="Times New Roman" pitchFamily="34" charset="0"/>
                <a:ea typeface="Times New Roman" pitchFamily="34" charset="-122"/>
                <a:cs typeface="Times New Roman" pitchFamily="34" charset="-120"/>
              </a:rPr>
              <a:t>To design an AI-based system for automatic multi-class cancer stage classification (Stage I–IV) from MRI images.</a:t>
            </a:r>
            <a:endParaRPr lang="en-US" sz="1200" dirty="0"/>
          </a:p>
        </p:txBody>
      </p:sp>
      <p:sp>
        <p:nvSpPr>
          <p:cNvPr id="7" name="Text 3"/>
          <p:cNvSpPr/>
          <p:nvPr/>
        </p:nvSpPr>
        <p:spPr>
          <a:xfrm>
            <a:off x="457200" y="933319"/>
            <a:ext cx="8229600" cy="1782449"/>
          </a:xfrm>
          <a:prstGeom prst="rect">
            <a:avLst/>
          </a:prstGeom>
          <a:noFill/>
          <a:ln/>
        </p:spPr>
        <p:txBody>
          <a:bodyPr wrap="square" rtlCol="0" anchor="ct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       2.  </a:t>
            </a:r>
            <a:r>
              <a:rPr lang="en-US" sz="1200" dirty="0">
                <a:solidFill>
                  <a:srgbClr val="000000"/>
                </a:solidFill>
                <a:latin typeface="Times New Roman" pitchFamily="34" charset="0"/>
                <a:ea typeface="Times New Roman" pitchFamily="34" charset="-122"/>
                <a:cs typeface="Times New Roman" pitchFamily="34" charset="-120"/>
              </a:rPr>
              <a:t>To implement a fine-tuned ResNet50 CNN using transfer learning from ImageNet for high-accuracy staging</a:t>
            </a:r>
            <a:r>
              <a:rPr lang="en-US" sz="1350" dirty="0">
                <a:solidFill>
                  <a:srgbClr val="000000"/>
                </a:solidFill>
                <a:latin typeface="Times New Roman" pitchFamily="34" charset="0"/>
                <a:ea typeface="Times New Roman" pitchFamily="34" charset="-122"/>
                <a:cs typeface="Times New Roman" pitchFamily="34" charset="-120"/>
              </a:rPr>
              <a:t>.</a:t>
            </a:r>
            <a:endParaRPr lang="en-US" sz="1350" dirty="0"/>
          </a:p>
        </p:txBody>
      </p:sp>
      <p:sp>
        <p:nvSpPr>
          <p:cNvPr id="8" name="Text 4"/>
          <p:cNvSpPr/>
          <p:nvPr/>
        </p:nvSpPr>
        <p:spPr>
          <a:xfrm>
            <a:off x="457200" y="1242323"/>
            <a:ext cx="8229600" cy="2022085"/>
          </a:xfrm>
          <a:prstGeom prst="rect">
            <a:avLst/>
          </a:prstGeom>
          <a:noFill/>
          <a:ln/>
        </p:spPr>
        <p:txBody>
          <a:bodyPr wrap="square" rtlCol="0" anchor="ct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       3.  To apply data augmentation and class-weighted loss functions to handle dataset imbalance effectively.</a:t>
            </a:r>
            <a:endParaRPr lang="en-US" sz="1350" dirty="0"/>
          </a:p>
        </p:txBody>
      </p:sp>
      <p:sp>
        <p:nvSpPr>
          <p:cNvPr id="9" name="Text 5"/>
          <p:cNvSpPr/>
          <p:nvPr/>
        </p:nvSpPr>
        <p:spPr>
          <a:xfrm>
            <a:off x="457200" y="1526102"/>
            <a:ext cx="8229600" cy="2286946"/>
          </a:xfrm>
          <a:prstGeom prst="rect">
            <a:avLst/>
          </a:prstGeom>
          <a:noFill/>
          <a:ln/>
        </p:spPr>
        <p:txBody>
          <a:bodyPr wrap="square" rtlCol="0" anchor="ct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       4.  To integrate Grad-CAM visual explainability to highlight tumor-relevant regions and support clinical trust.</a:t>
            </a:r>
            <a:endParaRPr lang="en-US" sz="1350" dirty="0"/>
          </a:p>
        </p:txBody>
      </p:sp>
      <p:sp>
        <p:nvSpPr>
          <p:cNvPr id="10" name="Text 6"/>
          <p:cNvSpPr/>
          <p:nvPr/>
        </p:nvSpPr>
        <p:spPr>
          <a:xfrm>
            <a:off x="457200" y="1658532"/>
            <a:ext cx="8229600" cy="2748876"/>
          </a:xfrm>
          <a:prstGeom prst="rect">
            <a:avLst/>
          </a:prstGeom>
          <a:noFill/>
          <a:ln/>
        </p:spPr>
        <p:txBody>
          <a:bodyPr wrap="square" rtlCol="0" anchor="ct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       5.  To evaluate model performance using accuracy, precision, recall, F1-score, and AUC-ROC metrics.</a:t>
            </a:r>
            <a:endParaRPr lang="en-US" sz="1350" dirty="0"/>
          </a:p>
        </p:txBody>
      </p:sp>
      <p:sp>
        <p:nvSpPr>
          <p:cNvPr id="11" name="Text 7"/>
          <p:cNvSpPr/>
          <p:nvPr/>
        </p:nvSpPr>
        <p:spPr>
          <a:xfrm>
            <a:off x="457200" y="2024292"/>
            <a:ext cx="8229600" cy="2886036"/>
          </a:xfrm>
          <a:prstGeom prst="rect">
            <a:avLst/>
          </a:prstGeom>
          <a:noFill/>
          <a:ln/>
        </p:spPr>
        <p:txBody>
          <a:bodyPr wrap="square" rtlCol="0" anchor="ct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       6.  To develop a Streamlit web interface enabling clinicians to upload MRI scans and receive staging results</a:t>
            </a:r>
          </a:p>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             within 2-3 seconds          </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274320" y="-416210"/>
            <a:ext cx="8595360" cy="1998122"/>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LITERATURE SURVEY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32978026"/>
              </p:ext>
            </p:extLst>
          </p:nvPr>
        </p:nvGraphicFramePr>
        <p:xfrm>
          <a:off x="274320" y="1191873"/>
          <a:ext cx="8595360" cy="3764176"/>
        </p:xfrm>
        <a:graphic>
          <a:graphicData uri="http://schemas.openxmlformats.org/drawingml/2006/table">
            <a:tbl>
              <a:tblPr/>
              <a:tblGrid>
                <a:gridCol w="5029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941044">
                <a:tc>
                  <a:txBody>
                    <a:bodyPr/>
                    <a:lstStyle/>
                    <a:p>
                      <a:pPr marL="0" indent="0">
                        <a:buNone/>
                      </a:pPr>
                      <a:r>
                        <a:rPr lang="en-US" sz="1100" b="1" dirty="0" err="1">
                          <a:solidFill>
                            <a:srgbClr val="FFFFFF"/>
                          </a:solidFill>
                          <a:latin typeface="Times New Roman" pitchFamily="34" charset="0"/>
                          <a:ea typeface="Times New Roman" pitchFamily="34" charset="-122"/>
                          <a:cs typeface="Times New Roman" pitchFamily="34" charset="-120"/>
                        </a:rPr>
                        <a:t>S.No</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tc>
                  <a:txBody>
                    <a:bodyP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               TITLE</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tc>
                  <a:txBody>
                    <a:bodyP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    AUTHOR</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tc>
                  <a:txBody>
                    <a:bodyP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PUBLICATION   AND YEAR</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tc>
                  <a:txBody>
                    <a:bodyP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                            DESCRIPTION</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extLst>
                  <a:ext uri="{0D108BD9-81ED-4DB2-BD59-A6C34878D82A}">
                    <a16:rowId xmlns:a16="http://schemas.microsoft.com/office/drawing/2014/main" val="10000"/>
                  </a:ext>
                </a:extLst>
              </a:tr>
              <a:tr h="941044">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1.</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i="0" dirty="0">
                          <a:solidFill>
                            <a:srgbClr val="000000"/>
                          </a:solidFill>
                          <a:latin typeface="Times New Roman" pitchFamily="34" charset="0"/>
                          <a:ea typeface="Times New Roman" pitchFamily="34" charset="-122"/>
                          <a:cs typeface="Times New Roman" pitchFamily="34" charset="-120"/>
                        </a:rPr>
                        <a:t>Dermatologist-level classification of skin cancer with deep neural networks</a:t>
                      </a:r>
                      <a:endParaRPr lang="en-US" sz="1100" i="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   Esteva et al.</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    Nature, 2017</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CNN achieves dermatologist-level skin cancer classification — established deep learning benchmark in medical imaging.</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extLst>
                  <a:ext uri="{0D108BD9-81ED-4DB2-BD59-A6C34878D82A}">
                    <a16:rowId xmlns:a16="http://schemas.microsoft.com/office/drawing/2014/main" val="10001"/>
                  </a:ext>
                </a:extLst>
              </a:tr>
              <a:tr h="941044">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2.</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i="0" dirty="0">
                          <a:solidFill>
                            <a:srgbClr val="000000"/>
                          </a:solidFill>
                          <a:latin typeface="Times New Roman" pitchFamily="34" charset="0"/>
                          <a:ea typeface="Times New Roman" pitchFamily="34" charset="-122"/>
                          <a:cs typeface="Times New Roman" pitchFamily="34" charset="-120"/>
                        </a:rPr>
                        <a:t>Brain tumor segmentation using convolutional neural networks in MRI images</a:t>
                      </a:r>
                      <a:endParaRPr lang="en-US" sz="1100" i="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Pereira et al.</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IEEE Trans. Med. Imaging, 2016</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Demonstrated CNN-based automatic tumor boundary delineation in multi-modal MRI.</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41044">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3.</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i="0" dirty="0">
                          <a:solidFill>
                            <a:srgbClr val="000000"/>
                          </a:solidFill>
                          <a:latin typeface="Times New Roman" pitchFamily="34" charset="0"/>
                          <a:ea typeface="Times New Roman" pitchFamily="34" charset="-122"/>
                          <a:cs typeface="Times New Roman" pitchFamily="34" charset="-120"/>
                        </a:rPr>
                        <a:t>Brain tumor classification using convolutional neural network</a:t>
                      </a:r>
                      <a:endParaRPr lang="en-US" sz="1100" i="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Abiwinanda et al.</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WACBE World Congress, 2019</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3-class CNN brain tumor classification with 84% accuracy; no explainability or multi-stage output.</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274320" y="1078992"/>
            <a:ext cx="8595360" cy="502920"/>
          </a:xfrm>
          <a:prstGeom prst="rect">
            <a:avLst/>
          </a:prstGeom>
          <a:noFill/>
          <a:ln/>
        </p:spPr>
        <p:txBody>
          <a:bodyPr wrap="square" rtlCol="0" anchor="ctr"/>
          <a:lstStyle/>
          <a:p>
            <a:pPr marL="0" indent="0" algn="ctr">
              <a:buNone/>
            </a:pP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2144905143"/>
              </p:ext>
            </p:extLst>
          </p:nvPr>
        </p:nvGraphicFramePr>
        <p:xfrm>
          <a:off x="274320" y="1664208"/>
          <a:ext cx="8595360" cy="2926080"/>
        </p:xfrm>
        <a:graphic>
          <a:graphicData uri="http://schemas.openxmlformats.org/drawingml/2006/table">
            <a:tbl>
              <a:tblPr/>
              <a:tblGrid>
                <a:gridCol w="5029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3154680">
                  <a:extLst>
                    <a:ext uri="{9D8B030D-6E8A-4147-A177-3AD203B41FA5}">
                      <a16:colId xmlns:a16="http://schemas.microsoft.com/office/drawing/2014/main" val="20004"/>
                    </a:ext>
                  </a:extLst>
                </a:gridCol>
              </a:tblGrid>
              <a:tr h="731520">
                <a:tc>
                  <a:txBody>
                    <a:bodyPr/>
                    <a:lstStyle/>
                    <a:p>
                      <a:pPr marL="0" indent="0">
                        <a:buNone/>
                      </a:pPr>
                      <a:r>
                        <a:rPr lang="en-US" sz="1100" b="1" dirty="0" err="1">
                          <a:solidFill>
                            <a:srgbClr val="FFFFFF"/>
                          </a:solidFill>
                          <a:latin typeface="Times New Roman" pitchFamily="34" charset="0"/>
                          <a:ea typeface="Times New Roman" pitchFamily="34" charset="-122"/>
                          <a:cs typeface="Times New Roman" pitchFamily="34" charset="-120"/>
                        </a:rPr>
                        <a:t>S.No</a:t>
                      </a:r>
                      <a:r>
                        <a:rPr lang="en-US" sz="1100" b="1" dirty="0">
                          <a:solidFill>
                            <a:srgbClr val="FFFFFF"/>
                          </a:solidFill>
                          <a:latin typeface="Times New Roman" pitchFamily="34" charset="0"/>
                          <a:ea typeface="Times New Roman" pitchFamily="34" charset="-122"/>
                          <a:cs typeface="Times New Roman" pitchFamily="34" charset="-120"/>
                        </a:rPr>
                        <a:t> </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tc>
                  <a:txBody>
                    <a:bodyP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                   TITLE</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tc>
                  <a:txBody>
                    <a:bodyP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         AUTHOR</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tc>
                  <a:txBody>
                    <a:bodyP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PUBLICATION AND YEAR</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tc>
                  <a:txBody>
                    <a:bodyP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                           DESCRIPTION</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7B7F"/>
                    </a:solidFill>
                  </a:tcPr>
                </a:tc>
                <a:extLst>
                  <a:ext uri="{0D108BD9-81ED-4DB2-BD59-A6C34878D82A}">
                    <a16:rowId xmlns:a16="http://schemas.microsoft.com/office/drawing/2014/main" val="10000"/>
                  </a:ext>
                </a:extLst>
              </a:tr>
              <a:tr h="731520">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4.</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i="0" dirty="0">
                          <a:solidFill>
                            <a:srgbClr val="000000"/>
                          </a:solidFill>
                          <a:latin typeface="Times New Roman" pitchFamily="34" charset="0"/>
                          <a:ea typeface="Times New Roman" pitchFamily="34" charset="-122"/>
                          <a:cs typeface="Times New Roman" pitchFamily="34" charset="-120"/>
                        </a:rPr>
                        <a:t>ResNet50 outperforms VGG/Inception for MRI classification tasks</a:t>
                      </a:r>
                      <a:endParaRPr lang="en-US" sz="1100" i="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Salehi &amp; Chalechale</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Frontiers in Big Data, 2021</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Systematic comparison confirms ResNet50 as best baseline for MRI-based classification.</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5.</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i="0" dirty="0">
                          <a:solidFill>
                            <a:srgbClr val="000000"/>
                          </a:solidFill>
                          <a:latin typeface="Times New Roman" pitchFamily="34" charset="0"/>
                          <a:ea typeface="Times New Roman" pitchFamily="34" charset="-122"/>
                          <a:cs typeface="Times New Roman" pitchFamily="34" charset="-120"/>
                        </a:rPr>
                        <a:t>Grad-CAM: Visual explanations from deep networks via gradient-based localization</a:t>
                      </a:r>
                      <a:endParaRPr lang="en-US" sz="1100" i="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Selvaraju et al.</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ICCV, 2017</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Grad-CAM generates class-discriminative heatmaps to explain CNN decisions — adopted here for tumor region visualization.</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EAF2F2"/>
                    </a:solidFill>
                  </a:tcPr>
                </a:tc>
                <a:extLst>
                  <a:ext uri="{0D108BD9-81ED-4DB2-BD59-A6C34878D82A}">
                    <a16:rowId xmlns:a16="http://schemas.microsoft.com/office/drawing/2014/main" val="10002"/>
                  </a:ext>
                </a:extLst>
              </a:tr>
              <a:tr h="731520">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6.</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i="0" dirty="0">
                          <a:solidFill>
                            <a:srgbClr val="000000"/>
                          </a:solidFill>
                          <a:latin typeface="Times New Roman" pitchFamily="34" charset="0"/>
                          <a:ea typeface="Times New Roman" pitchFamily="34" charset="-122"/>
                          <a:cs typeface="Times New Roman" pitchFamily="34" charset="-120"/>
                        </a:rPr>
                        <a:t>Predicting breast cancer molecular subtype with MRI using CNN</a:t>
                      </a:r>
                      <a:endParaRPr lang="en-US" sz="1100" i="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Ha et al.</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J. Digital Imaging, 2019</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Breast MRI lesion classification with Grad-CAM visualization; AUC 0.876. Limited to binary classification.</a:t>
                      </a:r>
                      <a:endParaRPr lang="en-US" sz="1100" dirty="0">
                        <a:latin typeface="Times New Roman" charset="0"/>
                        <a:ea typeface="Times New Roman" charset="0"/>
                        <a:cs typeface="Times New Roman" charset="0"/>
                      </a:endParaRPr>
                    </a:p>
                  </a:txBody>
                  <a:tcPr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822962" y="474384"/>
            <a:ext cx="10622807" cy="50292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EXISTING SYSTEM</a:t>
            </a:r>
            <a:endParaRPr lang="en-US" sz="1400" dirty="0"/>
          </a:p>
        </p:txBody>
      </p:sp>
      <p:sp>
        <p:nvSpPr>
          <p:cNvPr id="6" name="Text 2"/>
          <p:cNvSpPr/>
          <p:nvPr/>
        </p:nvSpPr>
        <p:spPr>
          <a:xfrm>
            <a:off x="1027912" y="107206"/>
            <a:ext cx="7302587" cy="4784834"/>
          </a:xfrm>
          <a:prstGeom prst="rect">
            <a:avLst/>
          </a:prstGeom>
          <a:noFill/>
          <a:ln/>
        </p:spPr>
        <p:txBody>
          <a:bodyPr wrap="square" rtlCol="0" anchor="ctr"/>
          <a:lstStyle/>
          <a:p>
            <a:pPr marL="0" indent="0" algn="just">
              <a:spcAft>
                <a:spcPts val="800"/>
              </a:spcAft>
              <a:buNone/>
            </a:pPr>
            <a:r>
              <a:rPr lang="en-US" sz="1200" dirty="0">
                <a:solidFill>
                  <a:srgbClr val="000000"/>
                </a:solidFill>
                <a:latin typeface="Times New Roman" pitchFamily="34" charset="0"/>
                <a:ea typeface="Times New Roman" pitchFamily="34" charset="-122"/>
                <a:cs typeface="Times New Roman" pitchFamily="34" charset="-120"/>
              </a:rPr>
              <a:t>                          In the existing clinical setup, cancer staging from MRI is performed manually by radiologists. The radiologist reviews multiple MRI sequences (T1, T2, FLAIR, DWI), identifies tumor boundaries, assesses size and spread, and assigns a stage based on established criteria such as TNM classification. This process relies entirely on human expertise and visual interpretation without any automated assistance.</a:t>
            </a:r>
            <a:endParaRPr lang="en-US" sz="1200" dirty="0"/>
          </a:p>
          <a:p>
            <a:pPr marL="0" indent="0" algn="just">
              <a:spcAft>
                <a:spcPts val="800"/>
              </a:spcAft>
              <a:buNone/>
            </a:pPr>
            <a:r>
              <a:rPr lang="en-US" sz="1200" dirty="0">
                <a:solidFill>
                  <a:srgbClr val="000000"/>
                </a:solidFill>
                <a:latin typeface="Times New Roman" pitchFamily="34" charset="0"/>
                <a:ea typeface="Times New Roman" pitchFamily="34" charset="-122"/>
                <a:cs typeface="Times New Roman" pitchFamily="34" charset="-120"/>
              </a:rPr>
              <a:t>                         Most existing AI-based systems address binary classification — distinguishing cancerous from non-cancerous tissue — rather than performing multi-class staging into Stage I through Stage IV. These systems often lack visual explainability, making their predictions difficult to verify or trust in a clinical context. Furthermore, they are typically trained on Western datasets with limited applicability to Indian clinical settings, where MRI acquisition parameters and patient demographics differ significantly. Deployment interfaces, when provided, are typically complex and require technical expertise to operate, limiting their adoption by clinicians.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274320" y="-340535"/>
            <a:ext cx="8595360" cy="1922447"/>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DISADVANTAGES OF EXISTING SYSTEM</a:t>
            </a:r>
            <a:endParaRPr lang="en-US" sz="1400" dirty="0"/>
          </a:p>
        </p:txBody>
      </p:sp>
      <p:sp>
        <p:nvSpPr>
          <p:cNvPr id="6" name="Text 2"/>
          <p:cNvSpPr/>
          <p:nvPr/>
        </p:nvSpPr>
        <p:spPr>
          <a:xfrm>
            <a:off x="457200" y="554946"/>
            <a:ext cx="8229600" cy="1566462"/>
          </a:xfrm>
          <a:prstGeom prst="rect">
            <a:avLst/>
          </a:prstGeom>
          <a:noFill/>
          <a:ln/>
        </p:spPr>
        <p:txBody>
          <a:bodyPr wrap="square"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Lack of Automation</a:t>
            </a:r>
            <a:r>
              <a:rPr lang="en-US" sz="1300" dirty="0">
                <a:solidFill>
                  <a:srgbClr val="000000"/>
                </a:solidFill>
                <a:latin typeface="Times New Roman" pitchFamily="34" charset="0"/>
                <a:ea typeface="Times New Roman" pitchFamily="34" charset="-122"/>
                <a:cs typeface="Times New Roman" pitchFamily="34" charset="-120"/>
              </a:rPr>
              <a:t>: Manual MRI interpretation is time-consuming and requires highly trained specialist radiologists.</a:t>
            </a:r>
            <a:endParaRPr lang="en-US" sz="1300" dirty="0"/>
          </a:p>
        </p:txBody>
      </p:sp>
      <p:sp>
        <p:nvSpPr>
          <p:cNvPr id="7" name="Text 3"/>
          <p:cNvSpPr/>
          <p:nvPr/>
        </p:nvSpPr>
        <p:spPr>
          <a:xfrm>
            <a:off x="457200" y="895481"/>
            <a:ext cx="8229600" cy="1737991"/>
          </a:xfrm>
          <a:prstGeom prst="rect">
            <a:avLst/>
          </a:prstGeom>
          <a:noFill/>
          <a:ln/>
        </p:spPr>
        <p:txBody>
          <a:bodyPr wrap="square"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Inter-Observer Variability: </a:t>
            </a:r>
            <a:r>
              <a:rPr lang="en-US" sz="1300" dirty="0">
                <a:solidFill>
                  <a:srgbClr val="000000"/>
                </a:solidFill>
                <a:latin typeface="Times New Roman" pitchFamily="34" charset="0"/>
                <a:ea typeface="Times New Roman" pitchFamily="34" charset="-122"/>
                <a:cs typeface="Times New Roman" pitchFamily="34" charset="-120"/>
              </a:rPr>
              <a:t>Staging decisions differ between radiologists, leading to inconsistent diagnoses.</a:t>
            </a:r>
            <a:endParaRPr lang="en-US" sz="1300" dirty="0"/>
          </a:p>
        </p:txBody>
      </p:sp>
      <p:sp>
        <p:nvSpPr>
          <p:cNvPr id="8" name="Text 4"/>
          <p:cNvSpPr/>
          <p:nvPr/>
        </p:nvSpPr>
        <p:spPr>
          <a:xfrm>
            <a:off x="457200" y="1223089"/>
            <a:ext cx="8229600" cy="1922447"/>
          </a:xfrm>
          <a:prstGeom prst="rect">
            <a:avLst/>
          </a:prstGeom>
          <a:noFill/>
          <a:ln/>
        </p:spPr>
        <p:txBody>
          <a:bodyPr wrap="square"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Binary Classification Only:</a:t>
            </a:r>
            <a:r>
              <a:rPr lang="en-US" sz="1300" dirty="0">
                <a:solidFill>
                  <a:srgbClr val="000000"/>
                </a:solidFill>
                <a:latin typeface="Times New Roman" pitchFamily="34" charset="0"/>
                <a:ea typeface="Times New Roman" pitchFamily="34" charset="-122"/>
                <a:cs typeface="Times New Roman" pitchFamily="34" charset="-120"/>
              </a:rPr>
              <a:t> Most AI systems only distinguish cancerous vs. non-cancerous — no multi-stage output.</a:t>
            </a:r>
            <a:endParaRPr lang="en-US" sz="1300" dirty="0"/>
          </a:p>
        </p:txBody>
      </p:sp>
      <p:sp>
        <p:nvSpPr>
          <p:cNvPr id="9" name="Text 5"/>
          <p:cNvSpPr/>
          <p:nvPr/>
        </p:nvSpPr>
        <p:spPr>
          <a:xfrm>
            <a:off x="457200" y="1581912"/>
            <a:ext cx="8229600" cy="2075688"/>
          </a:xfrm>
          <a:prstGeom prst="rect">
            <a:avLst/>
          </a:prstGeom>
          <a:noFill/>
          <a:ln/>
        </p:spPr>
        <p:txBody>
          <a:bodyPr wrap="square"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No Explainability</a:t>
            </a:r>
            <a:r>
              <a:rPr lang="en-US" sz="1300" dirty="0">
                <a:solidFill>
                  <a:srgbClr val="000000"/>
                </a:solidFill>
                <a:latin typeface="Times New Roman" pitchFamily="34" charset="0"/>
                <a:ea typeface="Times New Roman" pitchFamily="34" charset="-122"/>
                <a:cs typeface="Times New Roman" pitchFamily="34" charset="-120"/>
              </a:rPr>
              <a:t>: Existing AI models do not provide visual evidence for their predictions, reducing clinical trust.</a:t>
            </a:r>
            <a:endParaRPr lang="en-US" sz="1300" dirty="0"/>
          </a:p>
        </p:txBody>
      </p:sp>
      <p:sp>
        <p:nvSpPr>
          <p:cNvPr id="10" name="Text 6"/>
          <p:cNvSpPr/>
          <p:nvPr/>
        </p:nvSpPr>
        <p:spPr>
          <a:xfrm>
            <a:off x="457200" y="1922447"/>
            <a:ext cx="8229600" cy="2247217"/>
          </a:xfrm>
          <a:prstGeom prst="rect">
            <a:avLst/>
          </a:prstGeom>
          <a:noFill/>
          <a:ln/>
        </p:spPr>
        <p:txBody>
          <a:bodyPr wrap="square"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High Resource Dependency</a:t>
            </a:r>
            <a:r>
              <a:rPr lang="en-US" sz="1300" dirty="0">
                <a:solidFill>
                  <a:srgbClr val="000000"/>
                </a:solidFill>
                <a:latin typeface="Times New Roman" pitchFamily="34" charset="0"/>
                <a:ea typeface="Times New Roman" pitchFamily="34" charset="-122"/>
                <a:cs typeface="Times New Roman" pitchFamily="34" charset="-120"/>
              </a:rPr>
              <a:t>: Specialist radiologists are scarce in rural and semi-urban India, delaying diagnosis.</a:t>
            </a:r>
            <a:endParaRPr lang="en-US" sz="1300" dirty="0"/>
          </a:p>
        </p:txBody>
      </p:sp>
      <p:sp>
        <p:nvSpPr>
          <p:cNvPr id="11" name="Text 7"/>
          <p:cNvSpPr/>
          <p:nvPr/>
        </p:nvSpPr>
        <p:spPr>
          <a:xfrm>
            <a:off x="457200" y="2148840"/>
            <a:ext cx="8229600" cy="2532888"/>
          </a:xfrm>
          <a:prstGeom prst="rect">
            <a:avLst/>
          </a:prstGeom>
          <a:noFill/>
          <a:ln/>
        </p:spPr>
        <p:txBody>
          <a:bodyPr wrap="square"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No Deployable Interface</a:t>
            </a:r>
            <a:r>
              <a:rPr lang="en-US" sz="1300" dirty="0">
                <a:solidFill>
                  <a:srgbClr val="000000"/>
                </a:solidFill>
                <a:latin typeface="Times New Roman" pitchFamily="34" charset="0"/>
                <a:ea typeface="Times New Roman" pitchFamily="34" charset="-122"/>
                <a:cs typeface="Times New Roman" pitchFamily="34" charset="-120"/>
              </a:rPr>
              <a:t>: Research models lack user-friendly interfaces for clinical deployment by non-technical users.</a:t>
            </a:r>
            <a:endParaRPr lang="en-US" sz="1300" dirty="0"/>
          </a:p>
        </p:txBody>
      </p:sp>
      <p:sp>
        <p:nvSpPr>
          <p:cNvPr id="12" name="Text 8"/>
          <p:cNvSpPr/>
          <p:nvPr/>
        </p:nvSpPr>
        <p:spPr>
          <a:xfrm>
            <a:off x="457200" y="2449016"/>
            <a:ext cx="8229600" cy="2744776"/>
          </a:xfrm>
          <a:prstGeom prst="rect">
            <a:avLst/>
          </a:prstGeom>
          <a:noFill/>
          <a:ln/>
        </p:spPr>
        <p:txBody>
          <a:bodyPr wrap="square"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Dataset Bias</a:t>
            </a:r>
            <a:r>
              <a:rPr lang="en-US" sz="1300" dirty="0">
                <a:solidFill>
                  <a:srgbClr val="000000"/>
                </a:solidFill>
                <a:latin typeface="Times New Roman" pitchFamily="34" charset="0"/>
                <a:ea typeface="Times New Roman" pitchFamily="34" charset="-122"/>
                <a:cs typeface="Times New Roman" pitchFamily="34" charset="-120"/>
              </a:rPr>
              <a:t>: Existing models trained on Western datasets may not generalise to Indian patient populations.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179726" y="315941"/>
            <a:ext cx="8595360" cy="50292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PROPOSED SYSTEM</a:t>
            </a:r>
            <a:endParaRPr lang="en-US" sz="1400" dirty="0"/>
          </a:p>
        </p:txBody>
      </p:sp>
      <p:sp>
        <p:nvSpPr>
          <p:cNvPr id="6" name="Text 2"/>
          <p:cNvSpPr/>
          <p:nvPr/>
        </p:nvSpPr>
        <p:spPr>
          <a:xfrm>
            <a:off x="457200" y="1664208"/>
            <a:ext cx="8229600" cy="914400"/>
          </a:xfrm>
          <a:prstGeom prst="rect">
            <a:avLst/>
          </a:prstGeom>
          <a:noFill/>
          <a:ln/>
        </p:spPr>
        <p:txBody>
          <a:bodyPr wrap="square" rtlCol="0" anchor="ctr"/>
          <a:lstStyle/>
          <a:p>
            <a:pPr marL="0" indent="0" algn="just">
              <a:buNone/>
            </a:pPr>
            <a:r>
              <a:rPr lang="en-US" sz="1350" dirty="0">
                <a:solidFill>
                  <a:srgbClr val="000000"/>
                </a:solidFill>
                <a:latin typeface="Times New Roman" pitchFamily="34" charset="0"/>
                <a:ea typeface="Times New Roman" pitchFamily="34" charset="-122"/>
                <a:cs typeface="Times New Roman" pitchFamily="34" charset="-120"/>
              </a:rPr>
              <a:t>                </a:t>
            </a:r>
            <a:r>
              <a:rPr lang="en-US" sz="1200" dirty="0">
                <a:solidFill>
                  <a:srgbClr val="000000"/>
                </a:solidFill>
                <a:latin typeface="Times New Roman" pitchFamily="34" charset="0"/>
                <a:ea typeface="Times New Roman" pitchFamily="34" charset="-122"/>
                <a:cs typeface="Times New Roman" pitchFamily="34" charset="-120"/>
              </a:rPr>
              <a:t>The proposed AI-Based Cancer Stage Classification System from MRI addresses the limitations of existing manual and binary-classification approaches. The system employs a ResNet50 Convolutional Neural Network pre-trained on ImageNet and fine-tuned on annotated MRI datasets to automatically classify cancer into four stages: Stage I (localised), Stage II (locally advanced), Stage III (regional spread), and Stage IV (distant metastasis).
</a:t>
            </a:r>
            <a:r>
              <a:rPr lang="en-US" sz="1350" dirty="0">
                <a:solidFill>
                  <a:srgbClr val="000000"/>
                </a:solidFill>
                <a:latin typeface="Times New Roman" pitchFamily="34" charset="0"/>
                <a:ea typeface="Times New Roman" pitchFamily="34" charset="-122"/>
                <a:cs typeface="Times New Roman" pitchFamily="34" charset="-120"/>
              </a:rPr>
              <a:t>
         </a:t>
            </a:r>
            <a:r>
              <a:rPr lang="en-US" sz="1200" dirty="0">
                <a:solidFill>
                  <a:srgbClr val="000000"/>
                </a:solidFill>
                <a:latin typeface="Times New Roman" pitchFamily="34" charset="0"/>
                <a:ea typeface="Times New Roman" pitchFamily="34" charset="-122"/>
                <a:cs typeface="Times New Roman" pitchFamily="34" charset="-120"/>
              </a:rPr>
              <a:t>The system pipeline consists of five key modules:</a:t>
            </a:r>
          </a:p>
          <a:p>
            <a:pPr marL="0" indent="0" algn="just">
              <a:buNone/>
            </a:pPr>
            <a:r>
              <a:rPr lang="en-US" sz="1200" dirty="0">
                <a:solidFill>
                  <a:srgbClr val="000000"/>
                </a:solidFill>
                <a:latin typeface="Times New Roman" pitchFamily="34" charset="0"/>
                <a:ea typeface="Times New Roman" pitchFamily="34" charset="-122"/>
                <a:cs typeface="Times New Roman" pitchFamily="34" charset="-120"/>
              </a:rPr>
              <a:t>
</a:t>
            </a:r>
            <a:endParaRPr lang="en-US" sz="1200" dirty="0"/>
          </a:p>
        </p:txBody>
      </p:sp>
      <p:sp>
        <p:nvSpPr>
          <p:cNvPr id="7" name="Text 3"/>
          <p:cNvSpPr/>
          <p:nvPr/>
        </p:nvSpPr>
        <p:spPr>
          <a:xfrm>
            <a:off x="548640" y="2542032"/>
            <a:ext cx="8046720" cy="438912"/>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              </a:t>
            </a:r>
            <a:r>
              <a:rPr lang="en-US" sz="1300" b="1" dirty="0">
                <a:solidFill>
                  <a:srgbClr val="000000"/>
                </a:solidFill>
                <a:latin typeface="Times New Roman" pitchFamily="34" charset="0"/>
                <a:ea typeface="Times New Roman" pitchFamily="34" charset="-122"/>
                <a:cs typeface="Times New Roman" pitchFamily="34" charset="-120"/>
              </a:rPr>
              <a:t>Input Module</a:t>
            </a:r>
            <a:r>
              <a:rPr lang="en-US" sz="1300" dirty="0">
                <a:solidFill>
                  <a:srgbClr val="000000"/>
                </a:solidFill>
                <a:latin typeface="Times New Roman" pitchFamily="34" charset="0"/>
                <a:ea typeface="Times New Roman" pitchFamily="34" charset="-122"/>
                <a:cs typeface="Times New Roman" pitchFamily="34" charset="-120"/>
              </a:rPr>
              <a:t>: Accepts MRI images in DICOM or PNG/JPEG format and validates input.</a:t>
            </a:r>
            <a:endParaRPr lang="en-US" sz="1300" dirty="0"/>
          </a:p>
        </p:txBody>
      </p:sp>
      <p:sp>
        <p:nvSpPr>
          <p:cNvPr id="8" name="Text 4"/>
          <p:cNvSpPr/>
          <p:nvPr/>
        </p:nvSpPr>
        <p:spPr>
          <a:xfrm>
            <a:off x="523415" y="3017520"/>
            <a:ext cx="8046720" cy="438912"/>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              </a:t>
            </a:r>
            <a:r>
              <a:rPr lang="en-US" sz="1300" b="1" dirty="0">
                <a:solidFill>
                  <a:srgbClr val="000000"/>
                </a:solidFill>
                <a:latin typeface="Times New Roman" pitchFamily="34" charset="0"/>
                <a:ea typeface="Times New Roman" pitchFamily="34" charset="-122"/>
                <a:cs typeface="Times New Roman" pitchFamily="34" charset="-120"/>
              </a:rPr>
              <a:t>Preprocessing Module</a:t>
            </a:r>
            <a:r>
              <a:rPr lang="en-US" sz="1300" dirty="0">
                <a:solidFill>
                  <a:srgbClr val="000000"/>
                </a:solidFill>
                <a:latin typeface="Times New Roman" pitchFamily="34" charset="0"/>
                <a:ea typeface="Times New Roman" pitchFamily="34" charset="-122"/>
                <a:cs typeface="Times New Roman" pitchFamily="34" charset="-120"/>
              </a:rPr>
              <a:t>: Skull </a:t>
            </a:r>
            <a:r>
              <a:rPr lang="en-US" sz="1300" dirty="0" err="1">
                <a:solidFill>
                  <a:srgbClr val="000000"/>
                </a:solidFill>
                <a:latin typeface="Times New Roman" pitchFamily="34" charset="0"/>
                <a:ea typeface="Times New Roman" pitchFamily="34" charset="-122"/>
                <a:cs typeface="Times New Roman" pitchFamily="34" charset="-120"/>
              </a:rPr>
              <a:t>stripping,Gaussian</a:t>
            </a:r>
            <a:r>
              <a:rPr lang="en-US" sz="1300" dirty="0">
                <a:solidFill>
                  <a:srgbClr val="000000"/>
                </a:solidFill>
                <a:latin typeface="Times New Roman" pitchFamily="34" charset="0"/>
                <a:ea typeface="Times New Roman" pitchFamily="34" charset="-122"/>
                <a:cs typeface="Times New Roman" pitchFamily="34" charset="-120"/>
              </a:rPr>
              <a:t> noise </a:t>
            </a:r>
            <a:r>
              <a:rPr lang="en-US" sz="1300" dirty="0" err="1">
                <a:solidFill>
                  <a:srgbClr val="000000"/>
                </a:solidFill>
                <a:latin typeface="Times New Roman" pitchFamily="34" charset="0"/>
                <a:ea typeface="Times New Roman" pitchFamily="34" charset="-122"/>
                <a:cs typeface="Times New Roman" pitchFamily="34" charset="-120"/>
              </a:rPr>
              <a:t>filtering,intensity</a:t>
            </a:r>
            <a:r>
              <a:rPr lang="en-US" sz="1300" dirty="0">
                <a:solidFill>
                  <a:srgbClr val="000000"/>
                </a:solidFill>
                <a:latin typeface="Times New Roman" pitchFamily="34" charset="0"/>
                <a:ea typeface="Times New Roman" pitchFamily="34" charset="-122"/>
                <a:cs typeface="Times New Roman" pitchFamily="34" charset="-120"/>
              </a:rPr>
              <a:t> normalization, resize to 224×224px </a:t>
            </a:r>
            <a:endParaRPr lang="en-US" sz="1300" dirty="0"/>
          </a:p>
        </p:txBody>
      </p:sp>
      <p:sp>
        <p:nvSpPr>
          <p:cNvPr id="9" name="Text 5"/>
          <p:cNvSpPr/>
          <p:nvPr/>
        </p:nvSpPr>
        <p:spPr>
          <a:xfrm>
            <a:off x="548640" y="3529584"/>
            <a:ext cx="8046720" cy="438912"/>
          </a:xfrm>
          <a:prstGeom prst="rect">
            <a:avLst/>
          </a:prstGeom>
          <a:noFill/>
          <a:ln/>
        </p:spPr>
        <p:txBody>
          <a:bodyPr wrap="square"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             Classification Module</a:t>
            </a:r>
            <a:r>
              <a:rPr lang="en-US" sz="1300" dirty="0">
                <a:solidFill>
                  <a:srgbClr val="000000"/>
                </a:solidFill>
                <a:latin typeface="Times New Roman" pitchFamily="34" charset="0"/>
                <a:ea typeface="Times New Roman" pitchFamily="34" charset="-122"/>
                <a:cs typeface="Times New Roman" pitchFamily="34" charset="-120"/>
              </a:rPr>
              <a:t>: ResNet50 fine-tuned over 60 epochs — 4-class softmax output for Stage I–IV.</a:t>
            </a:r>
            <a:endParaRPr lang="en-US" sz="1300" dirty="0"/>
          </a:p>
        </p:txBody>
      </p:sp>
      <p:sp>
        <p:nvSpPr>
          <p:cNvPr id="10" name="Text 6"/>
          <p:cNvSpPr/>
          <p:nvPr/>
        </p:nvSpPr>
        <p:spPr>
          <a:xfrm>
            <a:off x="548640" y="4023360"/>
            <a:ext cx="8046720" cy="438912"/>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             </a:t>
            </a:r>
            <a:r>
              <a:rPr lang="en-US" sz="1300" b="1" dirty="0">
                <a:solidFill>
                  <a:srgbClr val="000000"/>
                </a:solidFill>
                <a:latin typeface="Times New Roman" pitchFamily="34" charset="0"/>
                <a:ea typeface="Times New Roman" pitchFamily="34" charset="-122"/>
                <a:cs typeface="Times New Roman" pitchFamily="34" charset="-120"/>
              </a:rPr>
              <a:t>Grad-CAM Explainability</a:t>
            </a:r>
            <a:r>
              <a:rPr lang="en-US" sz="1300" dirty="0">
                <a:solidFill>
                  <a:srgbClr val="000000"/>
                </a:solidFill>
                <a:latin typeface="Times New Roman" pitchFamily="34" charset="0"/>
                <a:ea typeface="Times New Roman" pitchFamily="34" charset="-122"/>
                <a:cs typeface="Times New Roman" pitchFamily="34" charset="-120"/>
              </a:rPr>
              <a:t>: Heatmap overlay highlights tumor-relevant regions for clinical verification.</a:t>
            </a:r>
            <a:endParaRPr lang="en-US" sz="1300" dirty="0"/>
          </a:p>
        </p:txBody>
      </p:sp>
      <p:sp>
        <p:nvSpPr>
          <p:cNvPr id="11" name="Text 7"/>
          <p:cNvSpPr/>
          <p:nvPr/>
        </p:nvSpPr>
        <p:spPr>
          <a:xfrm>
            <a:off x="548640" y="4517136"/>
            <a:ext cx="8046720" cy="438912"/>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             </a:t>
            </a:r>
            <a:r>
              <a:rPr lang="en-US" sz="1300" b="1" dirty="0" err="1">
                <a:solidFill>
                  <a:srgbClr val="000000"/>
                </a:solidFill>
                <a:latin typeface="Times New Roman" pitchFamily="34" charset="0"/>
                <a:ea typeface="Times New Roman" pitchFamily="34" charset="-122"/>
                <a:cs typeface="Times New Roman" pitchFamily="34" charset="-120"/>
              </a:rPr>
              <a:t>Streamlit</a:t>
            </a:r>
            <a:r>
              <a:rPr lang="en-US" sz="1300" b="1" dirty="0">
                <a:solidFill>
                  <a:srgbClr val="000000"/>
                </a:solidFill>
                <a:latin typeface="Times New Roman" pitchFamily="34" charset="0"/>
                <a:ea typeface="Times New Roman" pitchFamily="34" charset="-122"/>
                <a:cs typeface="Times New Roman" pitchFamily="34" charset="-120"/>
              </a:rPr>
              <a:t> Interface</a:t>
            </a:r>
            <a:r>
              <a:rPr lang="en-US" sz="1300" dirty="0">
                <a:solidFill>
                  <a:srgbClr val="000000"/>
                </a:solidFill>
                <a:latin typeface="Times New Roman" pitchFamily="34" charset="0"/>
                <a:ea typeface="Times New Roman" pitchFamily="34" charset="-122"/>
                <a:cs typeface="Times New Roman" pitchFamily="34" charset="-120"/>
              </a:rPr>
              <a:t>: Web-based deployment — upload scan, view stage + confidence score + heatmap in 2–3 seconds.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3197246" y="-500082"/>
            <a:ext cx="5672433" cy="1981410"/>
          </a:xfrm>
          <a:prstGeom prst="rect">
            <a:avLst/>
          </a:prstGeom>
          <a:noFill/>
          <a:ln/>
        </p:spPr>
        <p:txBody>
          <a:bodyPr wrap="square" rtlCol="0" anchor="ctr"/>
          <a:lstStyle/>
          <a:p>
            <a:pPr marL="0" indent="0" algn="l">
              <a:buNone/>
            </a:pPr>
            <a:r>
              <a:rPr lang="en-US" sz="1200" b="1" dirty="0">
                <a:latin typeface="Times New Roman" pitchFamily="34" charset="0"/>
                <a:ea typeface="Times New Roman" pitchFamily="34" charset="-122"/>
                <a:cs typeface="Times New Roman" pitchFamily="34" charset="-120"/>
              </a:rPr>
              <a:t>   BLOCK DIAGRAM</a:t>
            </a:r>
            <a:endParaRPr lang="en-US" sz="1200" b="1" dirty="0"/>
          </a:p>
        </p:txBody>
      </p:sp>
      <p:sp>
        <p:nvSpPr>
          <p:cNvPr id="6" name="Shape 2"/>
          <p:cNvSpPr/>
          <p:nvPr/>
        </p:nvSpPr>
        <p:spPr>
          <a:xfrm>
            <a:off x="274320" y="1627632"/>
            <a:ext cx="1554480" cy="1005840"/>
          </a:xfrm>
          <a:prstGeom prst="rect">
            <a:avLst/>
          </a:prstGeom>
          <a:solidFill>
            <a:srgbClr val="808080"/>
          </a:solidFill>
          <a:ln w="12700">
            <a:solidFill>
              <a:srgbClr val="606060"/>
            </a:solidFill>
            <a:prstDash val="solid"/>
          </a:ln>
          <a:effectLst>
            <a:outerShdw blurRad="50800" dist="25400" dir="8100000" algn="bl" rotWithShape="0">
              <a:srgbClr val="000000">
                <a:alpha val="20000"/>
              </a:srgbClr>
            </a:outerShdw>
          </a:effectLst>
        </p:spPr>
      </p:sp>
      <p:sp>
        <p:nvSpPr>
          <p:cNvPr id="7" name="Text 3"/>
          <p:cNvSpPr/>
          <p:nvPr/>
        </p:nvSpPr>
        <p:spPr>
          <a:xfrm>
            <a:off x="274320" y="1627632"/>
            <a:ext cx="1554480" cy="100584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MRI Input</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(DICOM/PNG)</a:t>
            </a:r>
            <a:endParaRPr lang="en-US" sz="1100" dirty="0"/>
          </a:p>
        </p:txBody>
      </p:sp>
      <p:sp>
        <p:nvSpPr>
          <p:cNvPr id="8" name="Shape 4"/>
          <p:cNvSpPr/>
          <p:nvPr/>
        </p:nvSpPr>
        <p:spPr>
          <a:xfrm>
            <a:off x="2103120" y="1627632"/>
            <a:ext cx="1554480" cy="1005840"/>
          </a:xfrm>
          <a:prstGeom prst="rect">
            <a:avLst/>
          </a:prstGeom>
          <a:solidFill>
            <a:srgbClr val="808080"/>
          </a:solidFill>
          <a:ln w="12700">
            <a:solidFill>
              <a:srgbClr val="606060"/>
            </a:solidFill>
            <a:prstDash val="solid"/>
          </a:ln>
          <a:effectLst>
            <a:outerShdw blurRad="50800" dist="25400" dir="8100000" algn="bl" rotWithShape="0">
              <a:srgbClr val="000000">
                <a:alpha val="20000"/>
              </a:srgbClr>
            </a:outerShdw>
          </a:effectLst>
        </p:spPr>
      </p:sp>
      <p:sp>
        <p:nvSpPr>
          <p:cNvPr id="9" name="Text 5"/>
          <p:cNvSpPr/>
          <p:nvPr/>
        </p:nvSpPr>
        <p:spPr>
          <a:xfrm>
            <a:off x="2103120" y="1627632"/>
            <a:ext cx="1554480" cy="100584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Preprocessing</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(Normalize</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Resize 224×224)</a:t>
            </a:r>
            <a:endParaRPr lang="en-US" sz="1100" dirty="0"/>
          </a:p>
        </p:txBody>
      </p:sp>
      <p:sp>
        <p:nvSpPr>
          <p:cNvPr id="10" name="Shape 6"/>
          <p:cNvSpPr/>
          <p:nvPr/>
        </p:nvSpPr>
        <p:spPr>
          <a:xfrm>
            <a:off x="3794760" y="1371600"/>
            <a:ext cx="1554480" cy="1828800"/>
          </a:xfrm>
          <a:prstGeom prst="rect">
            <a:avLst/>
          </a:prstGeom>
          <a:solidFill>
            <a:srgbClr val="808080"/>
          </a:solidFill>
          <a:ln w="12700">
            <a:solidFill>
              <a:srgbClr val="606060"/>
            </a:solidFill>
            <a:prstDash val="solid"/>
          </a:ln>
          <a:effectLst>
            <a:outerShdw blurRad="50800" dist="25400" dir="8100000" algn="bl" rotWithShape="0">
              <a:srgbClr val="000000">
                <a:alpha val="20000"/>
              </a:srgbClr>
            </a:outerShdw>
          </a:effectLst>
        </p:spPr>
      </p:sp>
      <p:sp>
        <p:nvSpPr>
          <p:cNvPr id="11" name="Text 7"/>
          <p:cNvSpPr/>
          <p:nvPr/>
        </p:nvSpPr>
        <p:spPr>
          <a:xfrm>
            <a:off x="3794760" y="1188720"/>
            <a:ext cx="1554480" cy="182880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ResNet50 CNN</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(Transfer</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Learning)</a:t>
            </a:r>
            <a:endParaRPr lang="en-US" sz="1100" dirty="0"/>
          </a:p>
        </p:txBody>
      </p:sp>
      <p:sp>
        <p:nvSpPr>
          <p:cNvPr id="12" name="Shape 8"/>
          <p:cNvSpPr/>
          <p:nvPr/>
        </p:nvSpPr>
        <p:spPr>
          <a:xfrm>
            <a:off x="5486400" y="1627632"/>
            <a:ext cx="1554480" cy="1005840"/>
          </a:xfrm>
          <a:prstGeom prst="rect">
            <a:avLst/>
          </a:prstGeom>
          <a:solidFill>
            <a:srgbClr val="808080"/>
          </a:solidFill>
          <a:ln w="12700">
            <a:solidFill>
              <a:srgbClr val="606060"/>
            </a:solidFill>
            <a:prstDash val="solid"/>
          </a:ln>
          <a:effectLst>
            <a:outerShdw blurRad="50800" dist="25400" dir="8100000" algn="bl" rotWithShape="0">
              <a:srgbClr val="000000">
                <a:alpha val="20000"/>
              </a:srgbClr>
            </a:outerShdw>
          </a:effectLst>
        </p:spPr>
      </p:sp>
      <p:sp>
        <p:nvSpPr>
          <p:cNvPr id="13" name="Text 9"/>
          <p:cNvSpPr/>
          <p:nvPr/>
        </p:nvSpPr>
        <p:spPr>
          <a:xfrm>
            <a:off x="5486400" y="1627632"/>
            <a:ext cx="1554480" cy="100584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Stage</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Prediction</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(I–IV)</a:t>
            </a:r>
            <a:endParaRPr lang="en-US" sz="1100" dirty="0"/>
          </a:p>
        </p:txBody>
      </p:sp>
      <p:sp>
        <p:nvSpPr>
          <p:cNvPr id="14" name="Shape 10"/>
          <p:cNvSpPr/>
          <p:nvPr/>
        </p:nvSpPr>
        <p:spPr>
          <a:xfrm>
            <a:off x="7269480" y="1627632"/>
            <a:ext cx="1600200" cy="1005840"/>
          </a:xfrm>
          <a:prstGeom prst="rect">
            <a:avLst/>
          </a:prstGeom>
          <a:solidFill>
            <a:srgbClr val="808080"/>
          </a:solidFill>
          <a:ln w="12700">
            <a:solidFill>
              <a:srgbClr val="606060"/>
            </a:solidFill>
            <a:prstDash val="solid"/>
          </a:ln>
          <a:effectLst>
            <a:outerShdw blurRad="50800" dist="25400" dir="8100000" algn="bl" rotWithShape="0">
              <a:srgbClr val="000000">
                <a:alpha val="20000"/>
              </a:srgbClr>
            </a:outerShdw>
          </a:effectLst>
        </p:spPr>
      </p:sp>
      <p:sp>
        <p:nvSpPr>
          <p:cNvPr id="15" name="Text 11"/>
          <p:cNvSpPr/>
          <p:nvPr/>
        </p:nvSpPr>
        <p:spPr>
          <a:xfrm>
            <a:off x="7269480" y="1627632"/>
            <a:ext cx="1600200" cy="100584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Grad-CAM</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Heatmap</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Output</a:t>
            </a:r>
            <a:endParaRPr lang="en-US" sz="1100" dirty="0"/>
          </a:p>
        </p:txBody>
      </p:sp>
      <p:sp>
        <p:nvSpPr>
          <p:cNvPr id="16" name="Shape 12"/>
          <p:cNvSpPr/>
          <p:nvPr/>
        </p:nvSpPr>
        <p:spPr>
          <a:xfrm>
            <a:off x="1828800" y="2139696"/>
            <a:ext cx="274320" cy="54864"/>
          </a:xfrm>
          <a:prstGeom prst="rect">
            <a:avLst/>
          </a:prstGeom>
          <a:solidFill>
            <a:srgbClr val="808080"/>
          </a:solidFill>
          <a:ln w="12700">
            <a:solidFill>
              <a:srgbClr val="808080"/>
            </a:solidFill>
            <a:prstDash val="solid"/>
          </a:ln>
        </p:spPr>
      </p:sp>
      <p:sp>
        <p:nvSpPr>
          <p:cNvPr id="17" name="Text 13"/>
          <p:cNvSpPr/>
          <p:nvPr/>
        </p:nvSpPr>
        <p:spPr>
          <a:xfrm>
            <a:off x="1965960" y="2084832"/>
            <a:ext cx="201168" cy="201168"/>
          </a:xfrm>
          <a:prstGeom prst="rect">
            <a:avLst/>
          </a:prstGeom>
          <a:noFill/>
          <a:ln/>
        </p:spPr>
        <p:txBody>
          <a:bodyPr wrap="square" lIns="0" tIns="0" rIns="0" bIns="0" rtlCol="0" anchor="ctr"/>
          <a:lstStyle/>
          <a:p>
            <a:pPr marL="0" indent="0" algn="ctr">
              <a:buNone/>
            </a:pPr>
            <a:r>
              <a:rPr lang="en-US" sz="1000" dirty="0">
                <a:solidFill>
                  <a:srgbClr val="808080"/>
                </a:solidFill>
                <a:latin typeface="Calibri" pitchFamily="34" charset="0"/>
                <a:ea typeface="Calibri" pitchFamily="34" charset="-122"/>
                <a:cs typeface="Calibri" pitchFamily="34" charset="-120"/>
              </a:rPr>
              <a:t>▶</a:t>
            </a:r>
            <a:endParaRPr lang="en-US" sz="1000" dirty="0"/>
          </a:p>
        </p:txBody>
      </p:sp>
      <p:sp>
        <p:nvSpPr>
          <p:cNvPr id="18" name="Shape 14"/>
          <p:cNvSpPr/>
          <p:nvPr/>
        </p:nvSpPr>
        <p:spPr>
          <a:xfrm>
            <a:off x="3520440" y="2139696"/>
            <a:ext cx="274320" cy="54864"/>
          </a:xfrm>
          <a:prstGeom prst="rect">
            <a:avLst/>
          </a:prstGeom>
          <a:solidFill>
            <a:srgbClr val="808080"/>
          </a:solidFill>
          <a:ln w="12700">
            <a:solidFill>
              <a:srgbClr val="808080"/>
            </a:solidFill>
            <a:prstDash val="solid"/>
          </a:ln>
        </p:spPr>
      </p:sp>
      <p:sp>
        <p:nvSpPr>
          <p:cNvPr id="19" name="Text 15"/>
          <p:cNvSpPr/>
          <p:nvPr/>
        </p:nvSpPr>
        <p:spPr>
          <a:xfrm>
            <a:off x="3657600" y="2084832"/>
            <a:ext cx="201168" cy="201168"/>
          </a:xfrm>
          <a:prstGeom prst="rect">
            <a:avLst/>
          </a:prstGeom>
          <a:noFill/>
          <a:ln/>
        </p:spPr>
        <p:txBody>
          <a:bodyPr wrap="square" lIns="0" tIns="0" rIns="0" bIns="0" rtlCol="0" anchor="ctr"/>
          <a:lstStyle/>
          <a:p>
            <a:pPr marL="0" indent="0" algn="ctr">
              <a:buNone/>
            </a:pPr>
            <a:r>
              <a:rPr lang="en-US" sz="1000" dirty="0">
                <a:solidFill>
                  <a:srgbClr val="808080"/>
                </a:solidFill>
                <a:latin typeface="Calibri" pitchFamily="34" charset="0"/>
                <a:ea typeface="Calibri" pitchFamily="34" charset="-122"/>
                <a:cs typeface="Calibri" pitchFamily="34" charset="-120"/>
              </a:rPr>
              <a:t>▶</a:t>
            </a:r>
            <a:endParaRPr lang="en-US" sz="1000" dirty="0"/>
          </a:p>
        </p:txBody>
      </p:sp>
      <p:sp>
        <p:nvSpPr>
          <p:cNvPr id="20" name="Shape 16"/>
          <p:cNvSpPr/>
          <p:nvPr/>
        </p:nvSpPr>
        <p:spPr>
          <a:xfrm>
            <a:off x="5349240" y="2139696"/>
            <a:ext cx="274320" cy="54864"/>
          </a:xfrm>
          <a:prstGeom prst="rect">
            <a:avLst/>
          </a:prstGeom>
          <a:solidFill>
            <a:srgbClr val="808080"/>
          </a:solidFill>
          <a:ln w="12700">
            <a:solidFill>
              <a:srgbClr val="808080"/>
            </a:solidFill>
            <a:prstDash val="solid"/>
          </a:ln>
        </p:spPr>
      </p:sp>
      <p:sp>
        <p:nvSpPr>
          <p:cNvPr id="21" name="Text 17"/>
          <p:cNvSpPr/>
          <p:nvPr/>
        </p:nvSpPr>
        <p:spPr>
          <a:xfrm>
            <a:off x="5486400" y="2084832"/>
            <a:ext cx="201168" cy="201168"/>
          </a:xfrm>
          <a:prstGeom prst="rect">
            <a:avLst/>
          </a:prstGeom>
          <a:noFill/>
          <a:ln/>
        </p:spPr>
        <p:txBody>
          <a:bodyPr wrap="square" lIns="0" tIns="0" rIns="0" bIns="0" rtlCol="0" anchor="ctr"/>
          <a:lstStyle/>
          <a:p>
            <a:pPr marL="0" indent="0" algn="ctr">
              <a:buNone/>
            </a:pPr>
            <a:r>
              <a:rPr lang="en-US" sz="1000" dirty="0">
                <a:solidFill>
                  <a:srgbClr val="808080"/>
                </a:solidFill>
                <a:latin typeface="Calibri" pitchFamily="34" charset="0"/>
                <a:ea typeface="Calibri" pitchFamily="34" charset="-122"/>
                <a:cs typeface="Calibri" pitchFamily="34" charset="-120"/>
              </a:rPr>
              <a:t>▶</a:t>
            </a:r>
            <a:endParaRPr lang="en-US" sz="1000" dirty="0"/>
          </a:p>
        </p:txBody>
      </p:sp>
      <p:sp>
        <p:nvSpPr>
          <p:cNvPr id="22" name="Shape 18"/>
          <p:cNvSpPr/>
          <p:nvPr/>
        </p:nvSpPr>
        <p:spPr>
          <a:xfrm>
            <a:off x="7040880" y="2139696"/>
            <a:ext cx="274320" cy="54864"/>
          </a:xfrm>
          <a:prstGeom prst="rect">
            <a:avLst/>
          </a:prstGeom>
          <a:solidFill>
            <a:srgbClr val="808080"/>
          </a:solidFill>
          <a:ln w="12700">
            <a:solidFill>
              <a:srgbClr val="808080"/>
            </a:solidFill>
            <a:prstDash val="solid"/>
          </a:ln>
        </p:spPr>
      </p:sp>
      <p:sp>
        <p:nvSpPr>
          <p:cNvPr id="23" name="Text 19"/>
          <p:cNvSpPr/>
          <p:nvPr/>
        </p:nvSpPr>
        <p:spPr>
          <a:xfrm>
            <a:off x="7178040" y="2084832"/>
            <a:ext cx="201168" cy="201168"/>
          </a:xfrm>
          <a:prstGeom prst="rect">
            <a:avLst/>
          </a:prstGeom>
          <a:noFill/>
          <a:ln/>
        </p:spPr>
        <p:txBody>
          <a:bodyPr wrap="square" lIns="0" tIns="0" rIns="0" bIns="0" rtlCol="0" anchor="ctr"/>
          <a:lstStyle/>
          <a:p>
            <a:pPr marL="0" indent="0" algn="ctr">
              <a:buNone/>
            </a:pPr>
            <a:r>
              <a:rPr lang="en-US" sz="1000" dirty="0">
                <a:solidFill>
                  <a:srgbClr val="808080"/>
                </a:solidFill>
                <a:latin typeface="Calibri" pitchFamily="34" charset="0"/>
                <a:ea typeface="Calibri" pitchFamily="34" charset="-122"/>
                <a:cs typeface="Calibri" pitchFamily="34" charset="-120"/>
              </a:rPr>
              <a:t>▶</a:t>
            </a:r>
            <a:endParaRPr lang="en-US" sz="1000" dirty="0"/>
          </a:p>
        </p:txBody>
      </p:sp>
      <p:sp>
        <p:nvSpPr>
          <p:cNvPr id="24" name="Shape 20"/>
          <p:cNvSpPr/>
          <p:nvPr/>
        </p:nvSpPr>
        <p:spPr>
          <a:xfrm>
            <a:off x="274320" y="3017520"/>
            <a:ext cx="1554480" cy="822960"/>
          </a:xfrm>
          <a:prstGeom prst="rect">
            <a:avLst/>
          </a:prstGeom>
          <a:solidFill>
            <a:srgbClr val="A0A0A0"/>
          </a:solidFill>
          <a:ln w="12700">
            <a:solidFill>
              <a:srgbClr val="707070"/>
            </a:solidFill>
            <a:prstDash val="solid"/>
          </a:ln>
        </p:spPr>
      </p:sp>
      <p:sp>
        <p:nvSpPr>
          <p:cNvPr id="25" name="Text 21"/>
          <p:cNvSpPr/>
          <p:nvPr/>
        </p:nvSpPr>
        <p:spPr>
          <a:xfrm>
            <a:off x="274320" y="3017520"/>
            <a:ext cx="1554480" cy="82296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Data</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Augmentation</a:t>
            </a:r>
            <a:endParaRPr lang="en-US" sz="1100" dirty="0"/>
          </a:p>
        </p:txBody>
      </p:sp>
      <p:sp>
        <p:nvSpPr>
          <p:cNvPr id="26" name="Shape 22"/>
          <p:cNvSpPr/>
          <p:nvPr/>
        </p:nvSpPr>
        <p:spPr>
          <a:xfrm>
            <a:off x="1051560" y="3017520"/>
            <a:ext cx="0" cy="0"/>
          </a:xfrm>
          <a:prstGeom prst="line">
            <a:avLst/>
          </a:prstGeom>
          <a:noFill/>
          <a:ln w="12700">
            <a:solidFill>
              <a:srgbClr val="808080"/>
            </a:solidFill>
            <a:prstDash val="solid"/>
          </a:ln>
        </p:spPr>
      </p:sp>
      <p:sp>
        <p:nvSpPr>
          <p:cNvPr id="27" name="Shape 23"/>
          <p:cNvSpPr/>
          <p:nvPr/>
        </p:nvSpPr>
        <p:spPr>
          <a:xfrm>
            <a:off x="2103120" y="3017520"/>
            <a:ext cx="1554480" cy="822960"/>
          </a:xfrm>
          <a:prstGeom prst="rect">
            <a:avLst/>
          </a:prstGeom>
          <a:solidFill>
            <a:srgbClr val="A0A0A0"/>
          </a:solidFill>
          <a:ln w="12700">
            <a:solidFill>
              <a:srgbClr val="707070"/>
            </a:solidFill>
            <a:prstDash val="solid"/>
          </a:ln>
        </p:spPr>
      </p:sp>
      <p:sp>
        <p:nvSpPr>
          <p:cNvPr id="28" name="Text 24"/>
          <p:cNvSpPr/>
          <p:nvPr/>
        </p:nvSpPr>
        <p:spPr>
          <a:xfrm>
            <a:off x="2103120" y="3017520"/>
            <a:ext cx="1554480" cy="82296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Class-Weighted</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Loss</a:t>
            </a:r>
            <a:endParaRPr lang="en-US" sz="1100" dirty="0"/>
          </a:p>
        </p:txBody>
      </p:sp>
      <p:sp>
        <p:nvSpPr>
          <p:cNvPr id="29" name="Shape 25"/>
          <p:cNvSpPr/>
          <p:nvPr/>
        </p:nvSpPr>
        <p:spPr>
          <a:xfrm>
            <a:off x="2880360" y="3017520"/>
            <a:ext cx="0" cy="0"/>
          </a:xfrm>
          <a:prstGeom prst="line">
            <a:avLst/>
          </a:prstGeom>
          <a:noFill/>
          <a:ln w="12700">
            <a:solidFill>
              <a:srgbClr val="808080"/>
            </a:solidFill>
            <a:prstDash val="solid"/>
          </a:ln>
        </p:spPr>
      </p:sp>
      <p:sp>
        <p:nvSpPr>
          <p:cNvPr id="30" name="Shape 26"/>
          <p:cNvSpPr/>
          <p:nvPr/>
        </p:nvSpPr>
        <p:spPr>
          <a:xfrm>
            <a:off x="5486400" y="3017520"/>
            <a:ext cx="1554480" cy="822960"/>
          </a:xfrm>
          <a:prstGeom prst="rect">
            <a:avLst/>
          </a:prstGeom>
          <a:solidFill>
            <a:srgbClr val="A0A0A0"/>
          </a:solidFill>
          <a:ln w="12700">
            <a:solidFill>
              <a:srgbClr val="707070"/>
            </a:solidFill>
            <a:prstDash val="solid"/>
          </a:ln>
        </p:spPr>
      </p:sp>
      <p:sp>
        <p:nvSpPr>
          <p:cNvPr id="31" name="Text 27"/>
          <p:cNvSpPr/>
          <p:nvPr/>
        </p:nvSpPr>
        <p:spPr>
          <a:xfrm>
            <a:off x="5486400" y="3017520"/>
            <a:ext cx="1554480" cy="82296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Softmax</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Activation</a:t>
            </a:r>
            <a:endParaRPr lang="en-US" sz="1100" dirty="0"/>
          </a:p>
        </p:txBody>
      </p:sp>
      <p:sp>
        <p:nvSpPr>
          <p:cNvPr id="32" name="Shape 28"/>
          <p:cNvSpPr/>
          <p:nvPr/>
        </p:nvSpPr>
        <p:spPr>
          <a:xfrm>
            <a:off x="6263640" y="3017520"/>
            <a:ext cx="0" cy="0"/>
          </a:xfrm>
          <a:prstGeom prst="line">
            <a:avLst/>
          </a:prstGeom>
          <a:noFill/>
          <a:ln w="12700">
            <a:solidFill>
              <a:srgbClr val="808080"/>
            </a:solidFill>
            <a:prstDash val="solid"/>
          </a:ln>
        </p:spPr>
      </p:sp>
      <p:sp>
        <p:nvSpPr>
          <p:cNvPr id="33" name="Shape 29"/>
          <p:cNvSpPr/>
          <p:nvPr/>
        </p:nvSpPr>
        <p:spPr>
          <a:xfrm>
            <a:off x="7269480" y="3017520"/>
            <a:ext cx="1600200" cy="822960"/>
          </a:xfrm>
          <a:prstGeom prst="rect">
            <a:avLst/>
          </a:prstGeom>
          <a:solidFill>
            <a:srgbClr val="A0A0A0"/>
          </a:solidFill>
          <a:ln w="12700">
            <a:solidFill>
              <a:srgbClr val="707070"/>
            </a:solidFill>
            <a:prstDash val="solid"/>
          </a:ln>
        </p:spPr>
      </p:sp>
      <p:sp>
        <p:nvSpPr>
          <p:cNvPr id="34" name="Text 30"/>
          <p:cNvSpPr/>
          <p:nvPr/>
        </p:nvSpPr>
        <p:spPr>
          <a:xfrm>
            <a:off x="7269480" y="3017520"/>
            <a:ext cx="1600200" cy="82296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Streamlit</a:t>
            </a:r>
            <a:endParaRPr lang="en-US" sz="1100" dirty="0"/>
          </a:p>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Interface</a:t>
            </a:r>
            <a:endParaRPr lang="en-US" sz="1100" dirty="0"/>
          </a:p>
        </p:txBody>
      </p:sp>
      <p:sp>
        <p:nvSpPr>
          <p:cNvPr id="35" name="Shape 31"/>
          <p:cNvSpPr/>
          <p:nvPr/>
        </p:nvSpPr>
        <p:spPr>
          <a:xfrm>
            <a:off x="8069580" y="3017520"/>
            <a:ext cx="0" cy="0"/>
          </a:xfrm>
          <a:prstGeom prst="line">
            <a:avLst/>
          </a:prstGeom>
          <a:noFill/>
          <a:ln w="12700">
            <a:solidFill>
              <a:srgbClr val="808080"/>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50450" y="-428822"/>
            <a:ext cx="8920130" cy="284741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SOFTWARE &amp; TOOLS USED</a:t>
            </a:r>
            <a:endParaRPr lang="en-US" sz="1400" dirty="0"/>
          </a:p>
        </p:txBody>
      </p:sp>
      <p:sp>
        <p:nvSpPr>
          <p:cNvPr id="6" name="Text 2"/>
          <p:cNvSpPr/>
          <p:nvPr/>
        </p:nvSpPr>
        <p:spPr>
          <a:xfrm>
            <a:off x="457200" y="1664208"/>
            <a:ext cx="320040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Python 3.9</a:t>
            </a:r>
            <a:endParaRPr lang="en-US" sz="1300" dirty="0"/>
          </a:p>
        </p:txBody>
      </p:sp>
      <p:sp>
        <p:nvSpPr>
          <p:cNvPr id="7" name="Text 3"/>
          <p:cNvSpPr/>
          <p:nvPr/>
        </p:nvSpPr>
        <p:spPr>
          <a:xfrm>
            <a:off x="457200" y="1901952"/>
            <a:ext cx="320040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Primary programming language</a:t>
            </a:r>
            <a:endParaRPr lang="en-US" sz="1200" dirty="0"/>
          </a:p>
        </p:txBody>
      </p:sp>
      <p:sp>
        <p:nvSpPr>
          <p:cNvPr id="8" name="Text 4"/>
          <p:cNvSpPr/>
          <p:nvPr/>
        </p:nvSpPr>
        <p:spPr>
          <a:xfrm>
            <a:off x="457200" y="2194560"/>
            <a:ext cx="320040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TensorFlow 2.x / Keras</a:t>
            </a:r>
            <a:endParaRPr lang="en-US" sz="1300" dirty="0"/>
          </a:p>
        </p:txBody>
      </p:sp>
      <p:sp>
        <p:nvSpPr>
          <p:cNvPr id="9" name="Text 5"/>
          <p:cNvSpPr/>
          <p:nvPr/>
        </p:nvSpPr>
        <p:spPr>
          <a:xfrm>
            <a:off x="457200" y="2432304"/>
            <a:ext cx="320040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Deep learning framework</a:t>
            </a:r>
            <a:endParaRPr lang="en-US" sz="1200" dirty="0"/>
          </a:p>
        </p:txBody>
      </p:sp>
      <p:sp>
        <p:nvSpPr>
          <p:cNvPr id="10" name="Text 6"/>
          <p:cNvSpPr/>
          <p:nvPr/>
        </p:nvSpPr>
        <p:spPr>
          <a:xfrm>
            <a:off x="457200" y="2724912"/>
            <a:ext cx="320040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ResNet50 (ImageNet)</a:t>
            </a:r>
            <a:endParaRPr lang="en-US" sz="1300" dirty="0"/>
          </a:p>
        </p:txBody>
      </p:sp>
      <p:sp>
        <p:nvSpPr>
          <p:cNvPr id="11" name="Text 7"/>
          <p:cNvSpPr/>
          <p:nvPr/>
        </p:nvSpPr>
        <p:spPr>
          <a:xfrm>
            <a:off x="457200" y="2962656"/>
            <a:ext cx="320040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Pre-trained CNN architecture</a:t>
            </a:r>
            <a:endParaRPr lang="en-US" sz="1200" dirty="0"/>
          </a:p>
        </p:txBody>
      </p:sp>
      <p:sp>
        <p:nvSpPr>
          <p:cNvPr id="12" name="Text 8"/>
          <p:cNvSpPr/>
          <p:nvPr/>
        </p:nvSpPr>
        <p:spPr>
          <a:xfrm>
            <a:off x="457200" y="3255264"/>
            <a:ext cx="320040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OpenCV</a:t>
            </a:r>
            <a:endParaRPr lang="en-US" sz="1300" dirty="0"/>
          </a:p>
        </p:txBody>
      </p:sp>
      <p:sp>
        <p:nvSpPr>
          <p:cNvPr id="13" name="Text 9"/>
          <p:cNvSpPr/>
          <p:nvPr/>
        </p:nvSpPr>
        <p:spPr>
          <a:xfrm>
            <a:off x="457200" y="3493008"/>
            <a:ext cx="320040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Image preprocessing &amp; augmentation</a:t>
            </a:r>
            <a:endParaRPr lang="en-US" sz="1200" dirty="0"/>
          </a:p>
        </p:txBody>
      </p:sp>
      <p:sp>
        <p:nvSpPr>
          <p:cNvPr id="14" name="Text 10"/>
          <p:cNvSpPr/>
          <p:nvPr/>
        </p:nvSpPr>
        <p:spPr>
          <a:xfrm>
            <a:off x="457200" y="3785616"/>
            <a:ext cx="320040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Grad-CAM</a:t>
            </a:r>
            <a:endParaRPr lang="en-US" sz="1300" dirty="0"/>
          </a:p>
        </p:txBody>
      </p:sp>
      <p:sp>
        <p:nvSpPr>
          <p:cNvPr id="15" name="Text 11"/>
          <p:cNvSpPr/>
          <p:nvPr/>
        </p:nvSpPr>
        <p:spPr>
          <a:xfrm>
            <a:off x="457200" y="4023360"/>
            <a:ext cx="320040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Explainability visualization module</a:t>
            </a:r>
            <a:endParaRPr lang="en-US" sz="1200" dirty="0"/>
          </a:p>
        </p:txBody>
      </p:sp>
      <p:sp>
        <p:nvSpPr>
          <p:cNvPr id="16" name="Text 12"/>
          <p:cNvSpPr/>
          <p:nvPr/>
        </p:nvSpPr>
        <p:spPr>
          <a:xfrm>
            <a:off x="457200" y="4315968"/>
            <a:ext cx="320040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Streamlit</a:t>
            </a:r>
            <a:endParaRPr lang="en-US" sz="1300" dirty="0"/>
          </a:p>
        </p:txBody>
      </p:sp>
      <p:sp>
        <p:nvSpPr>
          <p:cNvPr id="17" name="Text 13"/>
          <p:cNvSpPr/>
          <p:nvPr/>
        </p:nvSpPr>
        <p:spPr>
          <a:xfrm>
            <a:off x="457200" y="4553712"/>
            <a:ext cx="320040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Web-based clinical interface</a:t>
            </a:r>
            <a:endParaRPr lang="en-US" sz="1200" dirty="0"/>
          </a:p>
        </p:txBody>
      </p:sp>
      <p:sp>
        <p:nvSpPr>
          <p:cNvPr id="18" name="Text 14"/>
          <p:cNvSpPr/>
          <p:nvPr/>
        </p:nvSpPr>
        <p:spPr>
          <a:xfrm>
            <a:off x="4754880" y="1664208"/>
            <a:ext cx="393192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NumPy / Pandas</a:t>
            </a:r>
            <a:endParaRPr lang="en-US" sz="1300" dirty="0"/>
          </a:p>
        </p:txBody>
      </p:sp>
      <p:sp>
        <p:nvSpPr>
          <p:cNvPr id="19" name="Text 15"/>
          <p:cNvSpPr/>
          <p:nvPr/>
        </p:nvSpPr>
        <p:spPr>
          <a:xfrm>
            <a:off x="4754880" y="1901952"/>
            <a:ext cx="393192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Data handling and analysis</a:t>
            </a:r>
            <a:endParaRPr lang="en-US" sz="1200" dirty="0"/>
          </a:p>
        </p:txBody>
      </p:sp>
      <p:sp>
        <p:nvSpPr>
          <p:cNvPr id="20" name="Text 16"/>
          <p:cNvSpPr/>
          <p:nvPr/>
        </p:nvSpPr>
        <p:spPr>
          <a:xfrm>
            <a:off x="4754880" y="2194560"/>
            <a:ext cx="393192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Scikit-learn</a:t>
            </a:r>
            <a:endParaRPr lang="en-US" sz="1300" dirty="0"/>
          </a:p>
        </p:txBody>
      </p:sp>
      <p:sp>
        <p:nvSpPr>
          <p:cNvPr id="21" name="Text 17"/>
          <p:cNvSpPr/>
          <p:nvPr/>
        </p:nvSpPr>
        <p:spPr>
          <a:xfrm>
            <a:off x="4754880" y="2432304"/>
            <a:ext cx="393192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Evaluation metrics &amp; data splitting</a:t>
            </a:r>
            <a:endParaRPr lang="en-US" sz="1200" dirty="0"/>
          </a:p>
        </p:txBody>
      </p:sp>
      <p:sp>
        <p:nvSpPr>
          <p:cNvPr id="22" name="Text 18"/>
          <p:cNvSpPr/>
          <p:nvPr/>
        </p:nvSpPr>
        <p:spPr>
          <a:xfrm>
            <a:off x="4754880" y="2724912"/>
            <a:ext cx="393192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Matplotlib / Seaborn</a:t>
            </a:r>
            <a:endParaRPr lang="en-US" sz="1300" dirty="0"/>
          </a:p>
        </p:txBody>
      </p:sp>
      <p:sp>
        <p:nvSpPr>
          <p:cNvPr id="23" name="Text 19"/>
          <p:cNvSpPr/>
          <p:nvPr/>
        </p:nvSpPr>
        <p:spPr>
          <a:xfrm>
            <a:off x="4754880" y="2962656"/>
            <a:ext cx="393192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Training curves &amp; confusion matrix</a:t>
            </a:r>
            <a:endParaRPr lang="en-US" sz="1200" dirty="0"/>
          </a:p>
        </p:txBody>
      </p:sp>
      <p:sp>
        <p:nvSpPr>
          <p:cNvPr id="24" name="Text 20"/>
          <p:cNvSpPr/>
          <p:nvPr/>
        </p:nvSpPr>
        <p:spPr>
          <a:xfrm>
            <a:off x="4754880" y="3255264"/>
            <a:ext cx="393192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Google Colab Pro</a:t>
            </a:r>
            <a:endParaRPr lang="en-US" sz="1300" dirty="0"/>
          </a:p>
        </p:txBody>
      </p:sp>
      <p:sp>
        <p:nvSpPr>
          <p:cNvPr id="25" name="Text 21"/>
          <p:cNvSpPr/>
          <p:nvPr/>
        </p:nvSpPr>
        <p:spPr>
          <a:xfrm>
            <a:off x="4754880" y="3493008"/>
            <a:ext cx="393192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GPU training environment (NVIDIA V100)</a:t>
            </a:r>
            <a:endParaRPr lang="en-US" sz="1200" dirty="0"/>
          </a:p>
        </p:txBody>
      </p:sp>
      <p:sp>
        <p:nvSpPr>
          <p:cNvPr id="26" name="Text 22"/>
          <p:cNvSpPr/>
          <p:nvPr/>
        </p:nvSpPr>
        <p:spPr>
          <a:xfrm>
            <a:off x="4754880" y="3785616"/>
            <a:ext cx="393192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BraTS 2020 Dataset</a:t>
            </a:r>
            <a:endParaRPr lang="en-US" sz="1300" dirty="0"/>
          </a:p>
        </p:txBody>
      </p:sp>
      <p:sp>
        <p:nvSpPr>
          <p:cNvPr id="27" name="Text 23"/>
          <p:cNvSpPr/>
          <p:nvPr/>
        </p:nvSpPr>
        <p:spPr>
          <a:xfrm>
            <a:off x="4754880" y="4023360"/>
            <a:ext cx="393192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Brain MRI — TCIA source</a:t>
            </a:r>
            <a:endParaRPr lang="en-US" sz="1200" dirty="0"/>
          </a:p>
        </p:txBody>
      </p:sp>
      <p:sp>
        <p:nvSpPr>
          <p:cNvPr id="28" name="Text 24"/>
          <p:cNvSpPr/>
          <p:nvPr/>
        </p:nvSpPr>
        <p:spPr>
          <a:xfrm>
            <a:off x="4754880" y="4315968"/>
            <a:ext cx="3931920" cy="256032"/>
          </a:xfrm>
          <a:prstGeom prst="rect">
            <a:avLst/>
          </a:prstGeom>
          <a:noFill/>
          <a:ln/>
        </p:spPr>
        <p:txBody>
          <a:bodyPr wrap="square" rtlCol="0" anchor="ctr"/>
          <a:lstStyle/>
          <a:p>
            <a:pPr marL="0" indent="0">
              <a:buNone/>
            </a:pPr>
            <a:r>
              <a:rPr lang="en-US" sz="1300" b="1" dirty="0">
                <a:solidFill>
                  <a:srgbClr val="007B7F"/>
                </a:solidFill>
                <a:latin typeface="Times New Roman" pitchFamily="34" charset="0"/>
                <a:ea typeface="Times New Roman" pitchFamily="34" charset="-122"/>
                <a:cs typeface="Times New Roman" pitchFamily="34" charset="-120"/>
              </a:rPr>
              <a:t>DUKE Breast Cancer MRI</a:t>
            </a:r>
            <a:endParaRPr lang="en-US" sz="1300" dirty="0"/>
          </a:p>
        </p:txBody>
      </p:sp>
      <p:sp>
        <p:nvSpPr>
          <p:cNvPr id="29" name="Text 25"/>
          <p:cNvSpPr/>
          <p:nvPr/>
        </p:nvSpPr>
        <p:spPr>
          <a:xfrm>
            <a:off x="4754880" y="4553712"/>
            <a:ext cx="3931920" cy="219456"/>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Breast MRI — TCIA source</a:t>
            </a:r>
            <a:endParaRPr lang="en-US" sz="1200" dirty="0"/>
          </a:p>
        </p:txBody>
      </p:sp>
      <p:sp>
        <p:nvSpPr>
          <p:cNvPr id="30" name="Shape 26"/>
          <p:cNvSpPr/>
          <p:nvPr/>
        </p:nvSpPr>
        <p:spPr>
          <a:xfrm>
            <a:off x="4480560" y="1664208"/>
            <a:ext cx="36576" cy="3200400"/>
          </a:xfrm>
          <a:prstGeom prst="rect">
            <a:avLst/>
          </a:prstGeom>
          <a:solidFill>
            <a:srgbClr val="D3D3D3"/>
          </a:solidFill>
          <a:ln w="12700">
            <a:solidFill>
              <a:srgbClr val="D3D3D3"/>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274320" y="384679"/>
            <a:ext cx="8595360" cy="1197233"/>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RESULTS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1664208"/>
          <a:ext cx="7315200" cy="2926080"/>
        </p:xfrm>
        <a:graphic>
          <a:graphicData uri="http://schemas.openxmlformats.org/drawingml/2006/table">
            <a:tbl>
              <a:tblPr/>
              <a:tblGrid>
                <a:gridCol w="16459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487680">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Stage</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007B7F"/>
                    </a:solidFill>
                  </a:tcPr>
                </a:tc>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Precision</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007B7F"/>
                    </a:solidFill>
                  </a:tcPr>
                </a:tc>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Recall</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007B7F"/>
                    </a:solidFill>
                  </a:tcPr>
                </a:tc>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F1-Score</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007B7F"/>
                    </a:solidFill>
                  </a:tcPr>
                </a:tc>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AUC-ROC</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007B7F"/>
                    </a:solidFill>
                  </a:tcPr>
                </a:tc>
                <a:extLst>
                  <a:ext uri="{0D108BD9-81ED-4DB2-BD59-A6C34878D82A}">
                    <a16:rowId xmlns:a16="http://schemas.microsoft.com/office/drawing/2014/main" val="10000"/>
                  </a:ext>
                </a:extLst>
              </a:tr>
              <a:tr h="487680">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Stage I</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93.1%</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94.2%</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93.6%</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0.974</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extLst>
                  <a:ext uri="{0D108BD9-81ED-4DB2-BD59-A6C34878D82A}">
                    <a16:rowId xmlns:a16="http://schemas.microsoft.com/office/drawing/2014/main" val="10001"/>
                  </a:ext>
                </a:extLst>
              </a:tr>
              <a:tr h="487680">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Stage II</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91.4%</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90.8%</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91.1%</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0.958</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7680">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Stage III</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88.7%</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89.3%</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89.0%</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0.954</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2"/>
                    </a:solidFill>
                  </a:tcPr>
                </a:tc>
                <a:extLst>
                  <a:ext uri="{0D108BD9-81ED-4DB2-BD59-A6C34878D82A}">
                    <a16:rowId xmlns:a16="http://schemas.microsoft.com/office/drawing/2014/main" val="10003"/>
                  </a:ext>
                </a:extLst>
              </a:tr>
              <a:tr h="487680">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Stage IV</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94.6%</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95.1%</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94.8%</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0.978</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7680">
                <a:tc>
                  <a:txBody>
                    <a:bodyP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Overall</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0ECF0"/>
                    </a:solidFill>
                  </a:tcPr>
                </a:tc>
                <a:tc>
                  <a:txBody>
                    <a:bodyP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92.0%</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0ECF0"/>
                    </a:solidFill>
                  </a:tcPr>
                </a:tc>
                <a:tc>
                  <a:txBody>
                    <a:bodyP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92.4%</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0ECF0"/>
                    </a:solidFill>
                  </a:tcPr>
                </a:tc>
                <a:tc>
                  <a:txBody>
                    <a:bodyP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92.1%</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0ECF0"/>
                    </a:solidFill>
                  </a:tcPr>
                </a:tc>
                <a:tc>
                  <a:txBody>
                    <a:bodyP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0.967</a:t>
                      </a:r>
                      <a:endParaRPr lang="en-US" sz="1300" dirty="0">
                        <a:latin typeface="Times New Roman" charset="0"/>
                        <a:ea typeface="Times New Roman" charset="0"/>
                        <a:cs typeface="Times New Roman" charset="0"/>
                      </a:endParaRPr>
                    </a:p>
                  </a:txBody>
                  <a:tcPr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0ECF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274320" y="-346841"/>
            <a:ext cx="8595360" cy="1928753"/>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OUTPUT — GRAD-CAM EXPLAINABILITY</a:t>
            </a:r>
            <a:endParaRPr lang="en-US" sz="1400" dirty="0"/>
          </a:p>
        </p:txBody>
      </p:sp>
      <p:sp>
        <p:nvSpPr>
          <p:cNvPr id="6" name="Text 2"/>
          <p:cNvSpPr/>
          <p:nvPr/>
        </p:nvSpPr>
        <p:spPr>
          <a:xfrm>
            <a:off x="457200" y="750439"/>
            <a:ext cx="8229600" cy="1553849"/>
          </a:xfrm>
          <a:prstGeom prst="rect">
            <a:avLst/>
          </a:prstGeom>
          <a:noFill/>
          <a:ln/>
        </p:spPr>
        <p:txBody>
          <a:bodyPr wrap="square" rtlCol="0" anchor="ctr"/>
          <a:lstStyle/>
          <a:p>
            <a:pPr marL="0" indent="0" algn="just">
              <a:buNone/>
            </a:pPr>
            <a:r>
              <a:rPr lang="en-US" sz="1350" dirty="0">
                <a:solidFill>
                  <a:srgbClr val="000000"/>
                </a:solidFill>
                <a:latin typeface="Times New Roman" pitchFamily="34" charset="0"/>
                <a:ea typeface="Times New Roman" pitchFamily="34" charset="-122"/>
                <a:cs typeface="Times New Roman" pitchFamily="34" charset="-120"/>
              </a:rPr>
              <a:t>          </a:t>
            </a:r>
            <a:r>
              <a:rPr lang="en-US" sz="1200" dirty="0">
                <a:solidFill>
                  <a:srgbClr val="000000"/>
                </a:solidFill>
                <a:latin typeface="Times New Roman" pitchFamily="34" charset="0"/>
                <a:ea typeface="Times New Roman" pitchFamily="34" charset="-122"/>
                <a:cs typeface="Times New Roman" pitchFamily="34" charset="-120"/>
              </a:rPr>
              <a:t>The system's Grad-CAM module generates visual heatmaps overlaid on input MRI images, highlighting the regions that most influenced the model's cancer stage prediction. These visualizations were validated against radiologist-annotated tumor regions:</a:t>
            </a:r>
            <a:endParaRPr lang="en-US" sz="1200" dirty="0"/>
          </a:p>
        </p:txBody>
      </p:sp>
      <p:sp>
        <p:nvSpPr>
          <p:cNvPr id="7" name="Shape 3"/>
          <p:cNvSpPr/>
          <p:nvPr/>
        </p:nvSpPr>
        <p:spPr>
          <a:xfrm>
            <a:off x="457200" y="1993392"/>
            <a:ext cx="1371600" cy="585216"/>
          </a:xfrm>
          <a:prstGeom prst="rect">
            <a:avLst/>
          </a:prstGeom>
          <a:solidFill>
            <a:srgbClr val="D5F5E3"/>
          </a:solidFill>
          <a:ln w="6350">
            <a:solidFill>
              <a:srgbClr val="AAAAAA"/>
            </a:solidFill>
            <a:prstDash val="solid"/>
          </a:ln>
        </p:spPr>
        <p:txBody>
          <a:bodyPr/>
          <a:lstStyle/>
          <a:p>
            <a:pPr algn="ctr"/>
            <a:endParaRPr lang="en-US" sz="1200" b="1" dirty="0">
              <a:latin typeface="Times New Roman" panose="02020603050405020304" pitchFamily="18" charset="0"/>
              <a:cs typeface="Times New Roman" panose="02020603050405020304" pitchFamily="18" charset="0"/>
            </a:endParaRPr>
          </a:p>
          <a:p>
            <a:pPr algn="ctr"/>
            <a:r>
              <a:rPr lang="en-US" sz="1200" b="1" dirty="0">
                <a:latin typeface="Times New Roman" panose="02020603050405020304" pitchFamily="18" charset="0"/>
                <a:cs typeface="Times New Roman" panose="02020603050405020304" pitchFamily="18" charset="0"/>
              </a:rPr>
              <a:t>Stage I</a:t>
            </a:r>
          </a:p>
          <a:p>
            <a:pPr algn="ctr"/>
            <a:endParaRPr lang="en-US" sz="1200" b="1" dirty="0">
              <a:latin typeface="Times New Roman" panose="02020603050405020304" pitchFamily="18" charset="0"/>
              <a:cs typeface="Times New Roman" panose="02020603050405020304" pitchFamily="18" charset="0"/>
            </a:endParaRPr>
          </a:p>
          <a:p>
            <a:pPr algn="ctr"/>
            <a:endParaRPr lang="en-IN" sz="1200" b="1" dirty="0">
              <a:latin typeface="Times New Roman" panose="02020603050405020304" pitchFamily="18" charset="0"/>
              <a:cs typeface="Times New Roman" panose="02020603050405020304" pitchFamily="18" charset="0"/>
            </a:endParaRPr>
          </a:p>
        </p:txBody>
      </p:sp>
      <p:sp>
        <p:nvSpPr>
          <p:cNvPr id="8" name="Text 4"/>
          <p:cNvSpPr/>
          <p:nvPr/>
        </p:nvSpPr>
        <p:spPr>
          <a:xfrm>
            <a:off x="457200" y="2395728"/>
            <a:ext cx="1371600" cy="585216"/>
          </a:xfrm>
          <a:prstGeom prst="rect">
            <a:avLst/>
          </a:prstGeom>
          <a:noFill/>
          <a:ln/>
        </p:spPr>
        <p:txBody>
          <a:bodyPr wrap="square" rtlCol="0" anchor="ctr"/>
          <a:lstStyle/>
          <a:p>
            <a:pPr marL="0" indent="0" algn="ctr">
              <a:buNone/>
            </a:pPr>
            <a:endParaRPr lang="en-US" sz="1300" dirty="0"/>
          </a:p>
        </p:txBody>
      </p:sp>
      <p:sp>
        <p:nvSpPr>
          <p:cNvPr id="9" name="Text 5"/>
          <p:cNvSpPr/>
          <p:nvPr/>
        </p:nvSpPr>
        <p:spPr>
          <a:xfrm>
            <a:off x="2011680" y="1581912"/>
            <a:ext cx="6675120" cy="1344168"/>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Small, well-defined tumor mass clearly highlighted in the T1-contrast enhanced region.</a:t>
            </a:r>
            <a:endParaRPr lang="en-US" sz="1300" dirty="0"/>
          </a:p>
        </p:txBody>
      </p:sp>
      <p:sp>
        <p:nvSpPr>
          <p:cNvPr id="10" name="Shape 6"/>
          <p:cNvSpPr/>
          <p:nvPr/>
        </p:nvSpPr>
        <p:spPr>
          <a:xfrm>
            <a:off x="457200" y="2697480"/>
            <a:ext cx="1371600" cy="722376"/>
          </a:xfrm>
          <a:prstGeom prst="rect">
            <a:avLst/>
          </a:prstGeom>
          <a:solidFill>
            <a:srgbClr val="D6EAF8"/>
          </a:solidFill>
          <a:ln w="6350">
            <a:solidFill>
              <a:srgbClr val="AAAAAA"/>
            </a:solidFill>
            <a:prstDash val="solid"/>
          </a:ln>
        </p:spPr>
      </p:sp>
      <p:sp>
        <p:nvSpPr>
          <p:cNvPr id="11" name="Text 7"/>
          <p:cNvSpPr/>
          <p:nvPr/>
        </p:nvSpPr>
        <p:spPr>
          <a:xfrm>
            <a:off x="457200" y="2752344"/>
            <a:ext cx="1371600" cy="649224"/>
          </a:xfrm>
          <a:prstGeom prst="rect">
            <a:avLst/>
          </a:prstGeom>
          <a:noFill/>
          <a:ln/>
        </p:spPr>
        <p:txBody>
          <a:bodyPr wrap="square"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Stage II</a:t>
            </a:r>
            <a:endParaRPr lang="en-US" sz="1300" dirty="0"/>
          </a:p>
        </p:txBody>
      </p:sp>
      <p:sp>
        <p:nvSpPr>
          <p:cNvPr id="12" name="Text 8"/>
          <p:cNvSpPr/>
          <p:nvPr/>
        </p:nvSpPr>
        <p:spPr>
          <a:xfrm>
            <a:off x="2011680" y="2679192"/>
            <a:ext cx="6675120" cy="905256"/>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Tumor core and surrounding edema region activated — consistent with locally advanced disease.</a:t>
            </a:r>
            <a:endParaRPr lang="en-US" sz="1300" dirty="0"/>
          </a:p>
        </p:txBody>
      </p:sp>
      <p:sp>
        <p:nvSpPr>
          <p:cNvPr id="13" name="Shape 9"/>
          <p:cNvSpPr/>
          <p:nvPr/>
        </p:nvSpPr>
        <p:spPr>
          <a:xfrm>
            <a:off x="457200" y="3575304"/>
            <a:ext cx="1371600" cy="603504"/>
          </a:xfrm>
          <a:prstGeom prst="rect">
            <a:avLst/>
          </a:prstGeom>
          <a:solidFill>
            <a:srgbClr val="FDEBD0"/>
          </a:solidFill>
          <a:ln w="6350">
            <a:solidFill>
              <a:srgbClr val="AAAAAA"/>
            </a:solidFill>
            <a:prstDash val="solid"/>
          </a:ln>
        </p:spPr>
      </p:sp>
      <p:sp>
        <p:nvSpPr>
          <p:cNvPr id="14" name="Text 10"/>
          <p:cNvSpPr/>
          <p:nvPr/>
        </p:nvSpPr>
        <p:spPr>
          <a:xfrm>
            <a:off x="457200" y="3557016"/>
            <a:ext cx="1371600" cy="740664"/>
          </a:xfrm>
          <a:prstGeom prst="rect">
            <a:avLst/>
          </a:prstGeom>
          <a:noFill/>
          <a:ln/>
        </p:spPr>
        <p:txBody>
          <a:bodyPr wrap="square"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Stage III</a:t>
            </a:r>
            <a:endParaRPr lang="en-US" sz="1300" dirty="0"/>
          </a:p>
        </p:txBody>
      </p:sp>
      <p:sp>
        <p:nvSpPr>
          <p:cNvPr id="15" name="Text 11"/>
          <p:cNvSpPr/>
          <p:nvPr/>
        </p:nvSpPr>
        <p:spPr>
          <a:xfrm>
            <a:off x="2011680" y="3785616"/>
            <a:ext cx="6675120" cy="45720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Peritumoral infiltration and mass-effect regions highlighted, reflecting regional spread.</a:t>
            </a:r>
            <a:endParaRPr lang="en-US" sz="1300" dirty="0"/>
          </a:p>
        </p:txBody>
      </p:sp>
      <p:sp>
        <p:nvSpPr>
          <p:cNvPr id="16" name="Shape 12"/>
          <p:cNvSpPr/>
          <p:nvPr/>
        </p:nvSpPr>
        <p:spPr>
          <a:xfrm>
            <a:off x="457200" y="4283964"/>
            <a:ext cx="1371600" cy="704088"/>
          </a:xfrm>
          <a:prstGeom prst="rect">
            <a:avLst/>
          </a:prstGeom>
          <a:solidFill>
            <a:srgbClr val="FADBD8"/>
          </a:solidFill>
          <a:ln w="6350">
            <a:solidFill>
              <a:srgbClr val="AAAAAA"/>
            </a:solidFill>
            <a:prstDash val="solid"/>
          </a:ln>
        </p:spPr>
      </p:sp>
      <p:sp>
        <p:nvSpPr>
          <p:cNvPr id="17" name="Text 13"/>
          <p:cNvSpPr/>
          <p:nvPr/>
        </p:nvSpPr>
        <p:spPr>
          <a:xfrm>
            <a:off x="457200" y="4370832"/>
            <a:ext cx="1371600" cy="585216"/>
          </a:xfrm>
          <a:prstGeom prst="rect">
            <a:avLst/>
          </a:prstGeom>
          <a:noFill/>
          <a:ln/>
        </p:spPr>
        <p:txBody>
          <a:bodyPr wrap="square"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Stage IV</a:t>
            </a:r>
            <a:endParaRPr lang="en-US" sz="1300" dirty="0"/>
          </a:p>
        </p:txBody>
      </p:sp>
      <p:sp>
        <p:nvSpPr>
          <p:cNvPr id="18" name="Text 14"/>
          <p:cNvSpPr/>
          <p:nvPr/>
        </p:nvSpPr>
        <p:spPr>
          <a:xfrm>
            <a:off x="2011680" y="4443984"/>
            <a:ext cx="6675120" cy="45720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Widespread multi-region activation, consistent with diffuse metastatic involvement.</a:t>
            </a:r>
            <a:endParaRPr lang="en-US" sz="1300" dirty="0"/>
          </a:p>
        </p:txBody>
      </p:sp>
      <p:sp>
        <p:nvSpPr>
          <p:cNvPr id="19" name="Text 15"/>
          <p:cNvSpPr/>
          <p:nvPr/>
        </p:nvSpPr>
        <p:spPr>
          <a:xfrm>
            <a:off x="457200" y="5074920"/>
            <a:ext cx="8229600" cy="320040"/>
          </a:xfrm>
          <a:prstGeom prst="rect">
            <a:avLst/>
          </a:prstGeom>
          <a:noFill/>
          <a:ln/>
        </p:spPr>
        <p:txBody>
          <a:bodyPr wrap="square" rtlCol="0" anchor="ctr"/>
          <a:lstStyle/>
          <a:p>
            <a:pPr marL="0" indent="0" algn="ctr">
              <a:buNone/>
            </a:pPr>
            <a:r>
              <a:rPr lang="en-US" sz="1300" b="1" dirty="0">
                <a:solidFill>
                  <a:srgbClr val="007B7F"/>
                </a:solidFill>
                <a:latin typeface="Times New Roman" pitchFamily="34" charset="0"/>
                <a:ea typeface="Times New Roman" pitchFamily="34" charset="-122"/>
                <a:cs typeface="Times New Roman" pitchFamily="34" charset="-120"/>
              </a:rPr>
              <a:t>Concordance with radiologist-annotated tumor regions: 88% (44 out of 50 test cases validated)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8BA68-3570-E1CA-AB8D-4363A23342C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93C539E-8F84-609C-082A-0098BED78050}"/>
              </a:ext>
            </a:extLst>
          </p:cNvPr>
          <p:cNvPicPr>
            <a:picLocks noChangeAspect="1"/>
          </p:cNvPicPr>
          <p:nvPr/>
        </p:nvPicPr>
        <p:blipFill>
          <a:blip r:embed="rId2"/>
          <a:stretch>
            <a:fillRect/>
          </a:stretch>
        </p:blipFill>
        <p:spPr>
          <a:xfrm>
            <a:off x="1431758" y="568492"/>
            <a:ext cx="6348162" cy="4232108"/>
          </a:xfrm>
          <a:prstGeom prst="rect">
            <a:avLst/>
          </a:prstGeom>
        </p:spPr>
      </p:pic>
    </p:spTree>
    <p:extLst>
      <p:ext uri="{BB962C8B-B14F-4D97-AF65-F5344CB8AC3E}">
        <p14:creationId xmlns:p14="http://schemas.microsoft.com/office/powerpoint/2010/main" val="623013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36EEC9-58D6-08C0-900C-CF48A1B545AD}"/>
              </a:ext>
            </a:extLst>
          </p:cNvPr>
          <p:cNvPicPr>
            <a:picLocks noChangeAspect="1"/>
          </p:cNvPicPr>
          <p:nvPr/>
        </p:nvPicPr>
        <p:blipFill>
          <a:blip r:embed="rId2"/>
          <a:stretch>
            <a:fillRect/>
          </a:stretch>
        </p:blipFill>
        <p:spPr>
          <a:xfrm>
            <a:off x="1124953" y="410076"/>
            <a:ext cx="7304671" cy="4404561"/>
          </a:xfrm>
          <a:prstGeom prst="rect">
            <a:avLst/>
          </a:prstGeom>
        </p:spPr>
      </p:pic>
    </p:spTree>
    <p:extLst>
      <p:ext uri="{BB962C8B-B14F-4D97-AF65-F5344CB8AC3E}">
        <p14:creationId xmlns:p14="http://schemas.microsoft.com/office/powerpoint/2010/main" val="4134796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274320" y="195492"/>
            <a:ext cx="8595360" cy="138642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CONCLUSION</a:t>
            </a:r>
            <a:endParaRPr lang="en-US" sz="1400" dirty="0"/>
          </a:p>
        </p:txBody>
      </p:sp>
      <p:sp>
        <p:nvSpPr>
          <p:cNvPr id="6" name="Text 2"/>
          <p:cNvSpPr/>
          <p:nvPr/>
        </p:nvSpPr>
        <p:spPr>
          <a:xfrm>
            <a:off x="775662" y="523415"/>
            <a:ext cx="7911137" cy="4551505"/>
          </a:xfrm>
          <a:prstGeom prst="rect">
            <a:avLst/>
          </a:prstGeom>
          <a:noFill/>
          <a:ln/>
        </p:spPr>
        <p:txBody>
          <a:bodyPr wrap="square" rtlCol="0" anchor="ctr"/>
          <a:lstStyle/>
          <a:p>
            <a:pPr marL="0" indent="0" algn="just">
              <a:spcAft>
                <a:spcPts val="1000"/>
              </a:spcAft>
              <a:buNone/>
            </a:pPr>
            <a:r>
              <a:rPr lang="en-US" sz="1200" dirty="0">
                <a:solidFill>
                  <a:srgbClr val="000000"/>
                </a:solidFill>
                <a:latin typeface="Times New Roman" pitchFamily="34" charset="0"/>
                <a:ea typeface="Times New Roman" pitchFamily="34" charset="-122"/>
                <a:cs typeface="Times New Roman" pitchFamily="34" charset="-120"/>
              </a:rPr>
              <a:t>                    The proposed AI-Based Cancer Stage Classification System from MRI successfully demonstrates the feasibility of automated multi-class staging using deep learning. The ResNet50 model fine-tuned with transfer learning achieves an overall classification accuracy of 92.4% and AUC-ROC scores above 0.95 across all four cancer stages, outperforming baseline approaches including simple CNN and VGG16 models.</a:t>
            </a:r>
            <a:endParaRPr lang="en-US" sz="1200" dirty="0"/>
          </a:p>
          <a:p>
            <a:pPr marL="0" indent="0" algn="just">
              <a:spcAft>
                <a:spcPts val="1000"/>
              </a:spcAft>
              <a:buNone/>
            </a:pPr>
            <a:r>
              <a:rPr lang="en-US" sz="1200" dirty="0">
                <a:solidFill>
                  <a:srgbClr val="000000"/>
                </a:solidFill>
                <a:latin typeface="Times New Roman" pitchFamily="34" charset="0"/>
                <a:ea typeface="Times New Roman" pitchFamily="34" charset="-122"/>
                <a:cs typeface="Times New Roman" pitchFamily="34" charset="-120"/>
              </a:rPr>
              <a:t>                   The integration of Grad-CAM visual explainability ensures that the system's predictions are interpretable and clinically verifiable, with 88% concordance between model attention maps and radiologist-annotated tumor regions. The Streamlit web interface provides a practical, user-friendly deployment that delivers results within 2–3 seconds, making the system suitable for resource-constrained clinical environments.</a:t>
            </a:r>
            <a:endParaRPr lang="en-US" sz="1200" dirty="0"/>
          </a:p>
          <a:p>
            <a:pPr marL="0" indent="0" algn="just">
              <a:spcAft>
                <a:spcPts val="1000"/>
              </a:spcAft>
              <a:buNone/>
            </a:pPr>
            <a:r>
              <a:rPr lang="en-US" sz="1200" dirty="0">
                <a:solidFill>
                  <a:srgbClr val="000000"/>
                </a:solidFill>
                <a:latin typeface="Times New Roman" pitchFamily="34" charset="0"/>
                <a:ea typeface="Times New Roman" pitchFamily="34" charset="-122"/>
                <a:cs typeface="Times New Roman" pitchFamily="34" charset="-120"/>
              </a:rPr>
              <a:t>                  Overall, this system offers a reliable, scalable, and cost-effective AI-assisted staging tool that can reduce diagnostic delays, improve staging consistency, and support oncologists in clinical decision-making — particularly in semi-urban and rural healthcare settings in India where specialist radiology access is limited.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148196" y="379475"/>
            <a:ext cx="8595360" cy="1178157"/>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REFERENCES</a:t>
            </a:r>
            <a:endParaRPr lang="en-US" sz="1400" dirty="0"/>
          </a:p>
        </p:txBody>
      </p:sp>
      <p:sp>
        <p:nvSpPr>
          <p:cNvPr id="6" name="Text 2"/>
          <p:cNvSpPr/>
          <p:nvPr/>
        </p:nvSpPr>
        <p:spPr>
          <a:xfrm>
            <a:off x="457200" y="1664208"/>
            <a:ext cx="8229600" cy="402336"/>
          </a:xfrm>
          <a:prstGeom prst="rect">
            <a:avLst/>
          </a:prstGeom>
          <a:noFill/>
          <a:ln/>
        </p:spPr>
        <p:txBody>
          <a:bodyPr wrap="square" rtlCol="0" anchor="ctr"/>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     1.  Esteva, A., et al. (2017). Dermatologist-level classification of skin cancer with deep neural networks. Nature, 542(7639), 115–118.</a:t>
            </a:r>
            <a:endParaRPr lang="en-US" sz="1250" dirty="0"/>
          </a:p>
        </p:txBody>
      </p:sp>
      <p:sp>
        <p:nvSpPr>
          <p:cNvPr id="7" name="Text 3"/>
          <p:cNvSpPr/>
          <p:nvPr/>
        </p:nvSpPr>
        <p:spPr>
          <a:xfrm>
            <a:off x="457200" y="2103120"/>
            <a:ext cx="8229600" cy="402336"/>
          </a:xfrm>
          <a:prstGeom prst="rect">
            <a:avLst/>
          </a:prstGeom>
          <a:noFill/>
          <a:ln/>
        </p:spPr>
        <p:txBody>
          <a:bodyPr wrap="square" rtlCol="0" anchor="ctr"/>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    2.  Pereira, S., et al. (2016). Brain tumor segmentation using convolutional neural networks in MRI images. IEEE Transactions on Medical Imaging, 35(5), 1240–1251.</a:t>
            </a:r>
            <a:endParaRPr lang="en-US" sz="1250" dirty="0"/>
          </a:p>
        </p:txBody>
      </p:sp>
      <p:sp>
        <p:nvSpPr>
          <p:cNvPr id="8" name="Text 4"/>
          <p:cNvSpPr/>
          <p:nvPr/>
        </p:nvSpPr>
        <p:spPr>
          <a:xfrm>
            <a:off x="457200" y="2542032"/>
            <a:ext cx="8229600" cy="402336"/>
          </a:xfrm>
          <a:prstGeom prst="rect">
            <a:avLst/>
          </a:prstGeom>
          <a:noFill/>
          <a:ln/>
        </p:spPr>
        <p:txBody>
          <a:bodyPr wrap="square" rtlCol="0" anchor="ctr"/>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    3.  Abiwinanda, N., et al. (2019). Brain tumor classification using CNN. World Congress on Medical Physics and Biomedical Engineering, pp. 183–189.</a:t>
            </a:r>
            <a:endParaRPr lang="en-US" sz="1250" dirty="0"/>
          </a:p>
        </p:txBody>
      </p:sp>
      <p:sp>
        <p:nvSpPr>
          <p:cNvPr id="9" name="Text 5"/>
          <p:cNvSpPr/>
          <p:nvPr/>
        </p:nvSpPr>
        <p:spPr>
          <a:xfrm>
            <a:off x="457200" y="2980944"/>
            <a:ext cx="8229600" cy="402336"/>
          </a:xfrm>
          <a:prstGeom prst="rect">
            <a:avLst/>
          </a:prstGeom>
          <a:noFill/>
          <a:ln/>
        </p:spPr>
        <p:txBody>
          <a:bodyPr wrap="square" rtlCol="0" anchor="ctr"/>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    4.  Salehi, A. W., &amp; Chalechale, A. (2021). PSCNN: PatchShuffle CNN for representation learning in medical imaging. Frontiers in Big Data, 4, 762071.</a:t>
            </a:r>
            <a:endParaRPr lang="en-US" sz="1250" dirty="0"/>
          </a:p>
        </p:txBody>
      </p:sp>
      <p:sp>
        <p:nvSpPr>
          <p:cNvPr id="10" name="Text 6"/>
          <p:cNvSpPr/>
          <p:nvPr/>
        </p:nvSpPr>
        <p:spPr>
          <a:xfrm>
            <a:off x="457200" y="3419856"/>
            <a:ext cx="8229600" cy="402336"/>
          </a:xfrm>
          <a:prstGeom prst="rect">
            <a:avLst/>
          </a:prstGeom>
          <a:noFill/>
          <a:ln/>
        </p:spPr>
        <p:txBody>
          <a:bodyPr wrap="square" rtlCol="0" anchor="ctr"/>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    5.  Selvaraju, R. R., et al. (2017). Grad-CAM: Visual explanations from deep networks via gradient-based localization. ICCV, pp. 618–626.</a:t>
            </a:r>
            <a:endParaRPr lang="en-US" sz="1250" dirty="0"/>
          </a:p>
        </p:txBody>
      </p:sp>
      <p:sp>
        <p:nvSpPr>
          <p:cNvPr id="11" name="Text 7"/>
          <p:cNvSpPr/>
          <p:nvPr/>
        </p:nvSpPr>
        <p:spPr>
          <a:xfrm>
            <a:off x="457200" y="3858768"/>
            <a:ext cx="8229600" cy="402336"/>
          </a:xfrm>
          <a:prstGeom prst="rect">
            <a:avLst/>
          </a:prstGeom>
          <a:noFill/>
          <a:ln/>
        </p:spPr>
        <p:txBody>
          <a:bodyPr wrap="square" rtlCol="0" anchor="ctr"/>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   6.  Ha, R., et al. (2019). Predicting breast cancer molecular subtype with MRI dataset utilizing CNN. Journal of Digital Imaging, 32(2), 276–282.</a:t>
            </a:r>
            <a:endParaRPr lang="en-US" sz="1250" dirty="0"/>
          </a:p>
        </p:txBody>
      </p:sp>
      <p:sp>
        <p:nvSpPr>
          <p:cNvPr id="12" name="Text 8"/>
          <p:cNvSpPr/>
          <p:nvPr/>
        </p:nvSpPr>
        <p:spPr>
          <a:xfrm>
            <a:off x="457200" y="4297680"/>
            <a:ext cx="8229600" cy="402336"/>
          </a:xfrm>
          <a:prstGeom prst="rect">
            <a:avLst/>
          </a:prstGeom>
          <a:noFill/>
          <a:ln/>
        </p:spPr>
        <p:txBody>
          <a:bodyPr wrap="square" rtlCol="0" anchor="ctr"/>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   7.  He, K., Zhang, X., Ren, S., &amp; Sun, J. (2016). Deep residual learning for image recognition. CVPR, pp. 770–778.</a:t>
            </a:r>
            <a:endParaRPr lang="en-US" sz="1250" dirty="0"/>
          </a:p>
        </p:txBody>
      </p:sp>
      <p:sp>
        <p:nvSpPr>
          <p:cNvPr id="13" name="Text 9"/>
          <p:cNvSpPr/>
          <p:nvPr/>
        </p:nvSpPr>
        <p:spPr>
          <a:xfrm>
            <a:off x="457200" y="4559388"/>
            <a:ext cx="8229600" cy="579540"/>
          </a:xfrm>
          <a:prstGeom prst="rect">
            <a:avLst/>
          </a:prstGeom>
          <a:noFill/>
          <a:ln/>
        </p:spPr>
        <p:txBody>
          <a:bodyPr wrap="square" rtlCol="0" anchor="ctr"/>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   8.  Litjens, G., et al. (2017). A survey on deep learning in medical image analysis. Medical Image Analysis, 42, 60–88.</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0"/>
            <a:ext cx="8229600" cy="1097280"/>
          </a:xfrm>
          <a:prstGeom prst="rect">
            <a:avLst/>
          </a:prstGeom>
          <a:noFill/>
          <a:ln/>
        </p:spPr>
        <p:txBody>
          <a:bodyPr wrap="square" rtlCol="0" anchor="ctr"/>
          <a:lstStyle/>
          <a:p>
            <a:pPr marL="0" indent="0" algn="ctr">
              <a:buNone/>
            </a:pPr>
            <a:r>
              <a:rPr lang="en-US" sz="4800" dirty="0">
                <a:solidFill>
                  <a:srgbClr val="000000"/>
                </a:solidFill>
                <a:latin typeface="Times New Roman" pitchFamily="34" charset="0"/>
                <a:ea typeface="Times New Roman" pitchFamily="34" charset="-122"/>
                <a:cs typeface="Times New Roman" pitchFamily="34" charset="-120"/>
              </a:rPr>
              <a:t>THANK YOU…</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109</TotalTime>
  <Words>1988</Words>
  <Application>Microsoft Office PowerPoint</Application>
  <PresentationFormat>On-screen Show (16:9)</PresentationFormat>
  <Paragraphs>208</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Cancer Stage Classification from MRI</dc:title>
  <dc:subject>PptxGenJS Presentation</dc:subject>
  <dc:creator>PptxGenJS</dc:creator>
  <cp:lastModifiedBy>harinideva56@gmail.com</cp:lastModifiedBy>
  <cp:revision>3</cp:revision>
  <dcterms:created xsi:type="dcterms:W3CDTF">2026-04-22T11:43:12Z</dcterms:created>
  <dcterms:modified xsi:type="dcterms:W3CDTF">2026-04-25T01:49:59Z</dcterms:modified>
</cp:coreProperties>
</file>